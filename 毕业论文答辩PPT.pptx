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0" Type="http://schemas.openxmlformats.org/officeDocument/2006/relationships/notesSlide" Target="../notesSlides/notesSlide3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C8963E"/>
          </a:solidFill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C8963E"/>
          </a:solidFill>
        </p:spPr>
      </p:sp>
      <p:sp>
        <p:nvSpPr>
          <p:cNvPr id="4" name="Shape 2"/>
          <p:cNvSpPr/>
          <p:nvPr/>
        </p:nvSpPr>
        <p:spPr>
          <a:xfrm>
            <a:off x="731520" y="914400"/>
            <a:ext cx="36576" cy="3474720"/>
          </a:xfrm>
          <a:prstGeom prst="rect">
            <a:avLst/>
          </a:prstGeom>
          <a:solidFill>
            <a:srgbClr val="C8963E"/>
          </a:solidFill>
        </p:spPr>
      </p:sp>
      <p:sp>
        <p:nvSpPr>
          <p:cNvPr id="5" name="Text 3"/>
          <p:cNvSpPr/>
          <p:nvPr/>
        </p:nvSpPr>
        <p:spPr>
          <a:xfrm>
            <a:off x="1188720" y="457200"/>
            <a:ext cx="6858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896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湖南信息学院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777240"/>
            <a:ext cx="6858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D5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毕业论文答辩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88720" y="1600200"/>
            <a:ext cx="685800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基于SpringBoot+Vue的</a:t>
            </a:r>
            <a:endParaRPr lang="en-US" sz="3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七彩西藏旅游网站的设计与实现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1188720" y="3383280"/>
            <a:ext cx="2286000" cy="27432"/>
          </a:xfrm>
          <a:prstGeom prst="rect">
            <a:avLst/>
          </a:prstGeom>
          <a:solidFill>
            <a:srgbClr val="C8963E"/>
          </a:solidFill>
        </p:spPr>
      </p:sp>
      <p:sp>
        <p:nvSpPr>
          <p:cNvPr id="9" name="Text 7"/>
          <p:cNvSpPr/>
          <p:nvPr/>
        </p:nvSpPr>
        <p:spPr>
          <a:xfrm>
            <a:off x="1188720" y="3657600"/>
            <a:ext cx="457200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答 辩 人：冷喆好</a:t>
            </a:r>
            <a:endParaRPr lang="en-US" sz="16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学    号：202201150514</a:t>
            </a:r>
            <a:endParaRPr lang="en-US" sz="16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专    业：软件工程</a:t>
            </a:r>
            <a:endParaRPr lang="en-US" sz="16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班    级：2022级软件工程5班</a:t>
            </a:r>
            <a:endParaRPr lang="en-US" sz="16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指导教师：曾杰华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 / 18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8963E"/>
          </a:solidFill>
        </p:spPr>
      </p:sp>
      <p:sp>
        <p:nvSpPr>
          <p:cNvPr id="3" name="Shape 1"/>
          <p:cNvSpPr/>
          <p:nvPr/>
        </p:nvSpPr>
        <p:spPr>
          <a:xfrm>
            <a:off x="1097280" y="1371600"/>
            <a:ext cx="54864" cy="2286000"/>
          </a:xfrm>
          <a:prstGeom prst="rect">
            <a:avLst/>
          </a:prstGeom>
          <a:solidFill>
            <a:srgbClr val="C8963E"/>
          </a:solidFill>
        </p:spPr>
      </p:sp>
      <p:sp>
        <p:nvSpPr>
          <p:cNvPr id="4" name="Text 2"/>
          <p:cNvSpPr/>
          <p:nvPr/>
        </p:nvSpPr>
        <p:spPr>
          <a:xfrm>
            <a:off x="1463040" y="1463040"/>
            <a:ext cx="64008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目  录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463040" y="2651760"/>
            <a:ext cx="6400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896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CONTENTS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 / 18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463040" y="1097280"/>
            <a:ext cx="6400800" cy="640080"/>
          </a:xfrm>
          <a:prstGeom prst="rect">
            <a:avLst/>
          </a:prstGeom>
          <a:solidFill>
            <a:srgbClr val="F0E8E5"/>
          </a:solidFill>
        </p:spPr>
      </p:sp>
      <p:sp>
        <p:nvSpPr>
          <p:cNvPr id="8" name="Text 6"/>
          <p:cNvSpPr/>
          <p:nvPr/>
        </p:nvSpPr>
        <p:spPr>
          <a:xfrm>
            <a:off x="1645920" y="1170432"/>
            <a:ext cx="640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8963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468880" y="1143000"/>
            <a:ext cx="3657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研究背景与意义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468880" y="14447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D5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Research Background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463040" y="1874520"/>
            <a:ext cx="6400800" cy="640080"/>
          </a:xfrm>
          <a:prstGeom prst="rect">
            <a:avLst/>
          </a:prstGeom>
          <a:solidFill>
            <a:srgbClr val="F5EDE8"/>
          </a:solidFill>
        </p:spPr>
      </p:sp>
      <p:sp>
        <p:nvSpPr>
          <p:cNvPr id="12" name="Text 10"/>
          <p:cNvSpPr/>
          <p:nvPr/>
        </p:nvSpPr>
        <p:spPr>
          <a:xfrm>
            <a:off x="1645920" y="1947672"/>
            <a:ext cx="640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8963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468880" y="1920240"/>
            <a:ext cx="3657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系统分析与设计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468880" y="222199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D5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Analysis &amp; Design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463040" y="2651760"/>
            <a:ext cx="6400800" cy="640080"/>
          </a:xfrm>
          <a:prstGeom prst="rect">
            <a:avLst/>
          </a:prstGeom>
          <a:solidFill>
            <a:srgbClr val="F0E8E5"/>
          </a:solidFill>
        </p:spPr>
      </p:sp>
      <p:sp>
        <p:nvSpPr>
          <p:cNvPr id="16" name="Text 14"/>
          <p:cNvSpPr/>
          <p:nvPr/>
        </p:nvSpPr>
        <p:spPr>
          <a:xfrm>
            <a:off x="1645920" y="2724912"/>
            <a:ext cx="640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8963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2468880" y="2697480"/>
            <a:ext cx="3657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关键技术研究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468880" y="299923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D5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Technologies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463040" y="3429000"/>
            <a:ext cx="6400800" cy="640080"/>
          </a:xfrm>
          <a:prstGeom prst="rect">
            <a:avLst/>
          </a:prstGeom>
          <a:solidFill>
            <a:srgbClr val="F5EDE8"/>
          </a:solidFill>
        </p:spPr>
      </p:sp>
      <p:sp>
        <p:nvSpPr>
          <p:cNvPr id="20" name="Text 18"/>
          <p:cNvSpPr/>
          <p:nvPr/>
        </p:nvSpPr>
        <p:spPr>
          <a:xfrm>
            <a:off x="1645920" y="3502152"/>
            <a:ext cx="640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8963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04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2468880" y="3474720"/>
            <a:ext cx="3657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系统实现与测试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2468880" y="377647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D5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Implementation &amp; Testing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463040" y="4206240"/>
            <a:ext cx="6400800" cy="640080"/>
          </a:xfrm>
          <a:prstGeom prst="rect">
            <a:avLst/>
          </a:prstGeom>
          <a:solidFill>
            <a:srgbClr val="F0E8E5"/>
          </a:solidFill>
        </p:spPr>
      </p:sp>
      <p:sp>
        <p:nvSpPr>
          <p:cNvPr id="24" name="Text 22"/>
          <p:cNvSpPr/>
          <p:nvPr/>
        </p:nvSpPr>
        <p:spPr>
          <a:xfrm>
            <a:off x="1645920" y="4279392"/>
            <a:ext cx="640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8963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05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2468880" y="4251960"/>
            <a:ext cx="3657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总结与展望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2468880" y="455371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D5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Summary &amp; Outlook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B1A2B"/>
          </a:solidFill>
        </p:spPr>
      </p:sp>
      <p:sp>
        <p:nvSpPr>
          <p:cNvPr id="3" name="Shape 1"/>
          <p:cNvSpPr/>
          <p:nvPr/>
        </p:nvSpPr>
        <p:spPr>
          <a:xfrm>
            <a:off x="274320" y="228600"/>
            <a:ext cx="8595360" cy="640080"/>
          </a:xfrm>
          <a:prstGeom prst="rect">
            <a:avLst/>
          </a:prstGeom>
          <a:solidFill>
            <a:srgbClr val="7B1A2B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256032"/>
            <a:ext cx="80467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一、研究背景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868680"/>
            <a:ext cx="1371600" cy="36576"/>
          </a:xfrm>
          <a:prstGeom prst="rect">
            <a:avLst/>
          </a:prstGeom>
          <a:solidFill>
            <a:srgbClr val="C8963E"/>
          </a:solidFill>
        </p:spPr>
      </p:sp>
      <p:sp>
        <p:nvSpPr>
          <p:cNvPr id="6" name="Text 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 / 18</a:t>
            </a:r>
            <a:endParaRPr lang="en-US" sz="900" dirty="0"/>
          </a:p>
        </p:txBody>
      </p:sp>
      <p:sp>
        <p:nvSpPr>
          <p:cNvPr id="7" name="Shape 5"/>
          <p:cNvSpPr/>
          <p:nvPr>
            <p:custDataLst>
              <p:tags r:id="rId1"/>
            </p:custDataLst>
          </p:nvPr>
        </p:nvSpPr>
        <p:spPr>
          <a:xfrm>
            <a:off x="457200" y="1188720"/>
            <a:ext cx="3840480" cy="338328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>
            <p:custDataLst>
              <p:tags r:id="rId2"/>
            </p:custDataLst>
          </p:nvPr>
        </p:nvSpPr>
        <p:spPr>
          <a:xfrm>
            <a:off x="457200" y="1188720"/>
            <a:ext cx="3840480" cy="54864"/>
          </a:xfrm>
          <a:prstGeom prst="rect">
            <a:avLst/>
          </a:prstGeom>
          <a:solidFill>
            <a:srgbClr val="7B1A2B"/>
          </a:solidFill>
        </p:spPr>
      </p:sp>
      <p:sp>
        <p:nvSpPr>
          <p:cNvPr id="9" name="Text 7"/>
          <p:cNvSpPr/>
          <p:nvPr>
            <p:custDataLst>
              <p:tags r:id="rId3"/>
            </p:custDataLst>
          </p:nvPr>
        </p:nvSpPr>
        <p:spPr>
          <a:xfrm>
            <a:off x="640080" y="141732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B1A2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行业痛点</a:t>
            </a:r>
            <a:endParaRPr lang="en-US" sz="1800" dirty="0"/>
          </a:p>
        </p:txBody>
      </p:sp>
      <p:sp>
        <p:nvSpPr>
          <p:cNvPr id="10" name="Text 8"/>
          <p:cNvSpPr/>
          <p:nvPr>
            <p:custDataLst>
              <p:tags r:id="rId4"/>
            </p:custDataLst>
          </p:nvPr>
        </p:nvSpPr>
        <p:spPr>
          <a:xfrm>
            <a:off x="640080" y="1874520"/>
            <a:ext cx="3383280" cy="2468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出行路线雷同，缺乏个性化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推广方式老套，用户体验差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信息真实性差，更新慢，实用性低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广告过多，商业化严重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缺乏地方特色，无专属西藏板块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缺乏互动性，游客参与感弱</a:t>
            </a:r>
            <a:endParaRPr lang="en-US" sz="1300" dirty="0"/>
          </a:p>
        </p:txBody>
      </p:sp>
      <p:sp>
        <p:nvSpPr>
          <p:cNvPr id="11" name="Shape 9"/>
          <p:cNvSpPr/>
          <p:nvPr>
            <p:custDataLst>
              <p:tags r:id="rId5"/>
            </p:custDataLst>
          </p:nvPr>
        </p:nvSpPr>
        <p:spPr>
          <a:xfrm>
            <a:off x="4846320" y="1188720"/>
            <a:ext cx="3840480" cy="338328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>
            <p:custDataLst>
              <p:tags r:id="rId6"/>
            </p:custDataLst>
          </p:nvPr>
        </p:nvSpPr>
        <p:spPr>
          <a:xfrm>
            <a:off x="4846320" y="1188720"/>
            <a:ext cx="3840480" cy="54864"/>
          </a:xfrm>
          <a:prstGeom prst="rect">
            <a:avLst/>
          </a:prstGeom>
          <a:solidFill>
            <a:srgbClr val="1B4F72"/>
          </a:solidFill>
        </p:spPr>
      </p:sp>
      <p:sp>
        <p:nvSpPr>
          <p:cNvPr id="13" name="Text 11"/>
          <p:cNvSpPr/>
          <p:nvPr>
            <p:custDataLst>
              <p:tags r:id="rId7"/>
            </p:custDataLst>
          </p:nvPr>
        </p:nvSpPr>
        <p:spPr>
          <a:xfrm>
            <a:off x="5029200" y="141732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4F7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发展契机</a:t>
            </a:r>
            <a:endParaRPr lang="en-US" sz="1800" dirty="0"/>
          </a:p>
        </p:txBody>
      </p:sp>
      <p:sp>
        <p:nvSpPr>
          <p:cNvPr id="14" name="Text 12"/>
          <p:cNvSpPr/>
          <p:nvPr>
            <p:custDataLst>
              <p:tags r:id="rId8"/>
            </p:custDataLst>
          </p:nvPr>
        </p:nvSpPr>
        <p:spPr>
          <a:xfrm>
            <a:off x="5074920" y="1874520"/>
            <a:ext cx="3383280" cy="2468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互联网+文旅数字化转型大势所趋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西藏旅游资源丰富且独特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游客自助游、个性化行程需求增长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AI推荐+数据可视化技术成熟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SpringBoot+Vue技术生态完善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国家智慧旅游政策大力支持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4709160"/>
            <a:ext cx="8229600" cy="13716"/>
          </a:xfrm>
          <a:prstGeom prst="rect">
            <a:avLst/>
          </a:prstGeom>
          <a:solidFill>
            <a:srgbClr val="C8963E"/>
          </a:solid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B1A2B"/>
          </a:solidFill>
        </p:spPr>
      </p:sp>
      <p:sp>
        <p:nvSpPr>
          <p:cNvPr id="3" name="Shape 1"/>
          <p:cNvSpPr/>
          <p:nvPr/>
        </p:nvSpPr>
        <p:spPr>
          <a:xfrm>
            <a:off x="274320" y="228600"/>
            <a:ext cx="8595360" cy="640080"/>
          </a:xfrm>
          <a:prstGeom prst="rect">
            <a:avLst/>
          </a:prstGeom>
          <a:solidFill>
            <a:srgbClr val="7B1A2B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256032"/>
            <a:ext cx="80467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一、研究意义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868680"/>
            <a:ext cx="1371600" cy="36576"/>
          </a:xfrm>
          <a:prstGeom prst="rect">
            <a:avLst/>
          </a:prstGeom>
          <a:solidFill>
            <a:srgbClr val="C8963E"/>
          </a:solidFill>
        </p:spPr>
      </p:sp>
      <p:sp>
        <p:nvSpPr>
          <p:cNvPr id="6" name="Text 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 / 18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2606040" cy="338328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188720"/>
            <a:ext cx="2606040" cy="54864"/>
          </a:xfrm>
          <a:prstGeom prst="rect">
            <a:avLst/>
          </a:prstGeom>
          <a:solidFill>
            <a:srgbClr val="7B1A2B"/>
          </a:solidFill>
        </p:spPr>
      </p:sp>
      <p:sp>
        <p:nvSpPr>
          <p:cNvPr id="9" name="Text 7"/>
          <p:cNvSpPr/>
          <p:nvPr/>
        </p:nvSpPr>
        <p:spPr>
          <a:xfrm>
            <a:off x="731520" y="146304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🌐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40080" y="2103120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B1A2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宣传西藏旅游资源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2560320"/>
            <a:ext cx="2240280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建立专门西藏旅游网站，整合景点、非遗、民族文化、美食及旅游攻略信息，提升西藏关注度与影响力，促进地方经济发展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91840" y="1188720"/>
            <a:ext cx="2606040" cy="338328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1188720"/>
            <a:ext cx="2606040" cy="54864"/>
          </a:xfrm>
          <a:prstGeom prst="rect">
            <a:avLst/>
          </a:prstGeom>
          <a:solidFill>
            <a:srgbClr val="C8963E"/>
          </a:solidFill>
        </p:spPr>
      </p:sp>
      <p:sp>
        <p:nvSpPr>
          <p:cNvPr id="14" name="Text 12"/>
          <p:cNvSpPr/>
          <p:nvPr/>
        </p:nvSpPr>
        <p:spPr>
          <a:xfrm>
            <a:off x="3566160" y="146304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474720" y="2103120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B1A2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提升游客体验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474720" y="2560320"/>
            <a:ext cx="2240280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利用个性化景点推荐功能，让游客便捷查询信息、预定旅游产品，享受更舒适快捷的旅行服务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26480" y="1188720"/>
            <a:ext cx="2606040" cy="338328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1188720"/>
            <a:ext cx="2606040" cy="54864"/>
          </a:xfrm>
          <a:prstGeom prst="rect">
            <a:avLst/>
          </a:prstGeom>
          <a:solidFill>
            <a:srgbClr val="1B4F72"/>
          </a:solidFill>
        </p:spPr>
      </p:sp>
      <p:sp>
        <p:nvSpPr>
          <p:cNvPr id="19" name="Text 17"/>
          <p:cNvSpPr/>
          <p:nvPr/>
        </p:nvSpPr>
        <p:spPr>
          <a:xfrm>
            <a:off x="6400800" y="146304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💡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309360" y="2103120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B1A2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技术创新示范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09360" y="2560320"/>
            <a:ext cx="2240280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基于协同过滤的智能推荐+ECharts数据可视化+热力图展示，为旅游网站信息管理和价值发现提供新思路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709160"/>
            <a:ext cx="8229600" cy="13716"/>
          </a:xfrm>
          <a:prstGeom prst="rect">
            <a:avLst/>
          </a:prstGeom>
          <a:solidFill>
            <a:srgbClr val="C8963E"/>
          </a:solid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B1A2B"/>
          </a:solidFill>
        </p:spPr>
      </p:sp>
      <p:sp>
        <p:nvSpPr>
          <p:cNvPr id="3" name="Shape 1"/>
          <p:cNvSpPr/>
          <p:nvPr/>
        </p:nvSpPr>
        <p:spPr>
          <a:xfrm>
            <a:off x="274320" y="228600"/>
            <a:ext cx="8595360" cy="640080"/>
          </a:xfrm>
          <a:prstGeom prst="rect">
            <a:avLst/>
          </a:prstGeom>
          <a:solidFill>
            <a:srgbClr val="7B1A2B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256032"/>
            <a:ext cx="80467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一、国内外研究现状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868680"/>
            <a:ext cx="1371600" cy="36576"/>
          </a:xfrm>
          <a:prstGeom prst="rect">
            <a:avLst/>
          </a:prstGeom>
          <a:solidFill>
            <a:srgbClr val="C8963E"/>
          </a:solidFill>
        </p:spPr>
      </p:sp>
      <p:sp>
        <p:nvSpPr>
          <p:cNvPr id="6" name="Text 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 / 18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3840480" cy="338328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325880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4F7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国外研究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0080" y="1691640"/>
            <a:ext cx="548640" cy="27432"/>
          </a:xfrm>
          <a:prstGeom prst="rect">
            <a:avLst/>
          </a:prstGeom>
          <a:solidFill>
            <a:srgbClr val="1B4F72"/>
          </a:solidFill>
        </p:spPr>
      </p:sp>
      <p:sp>
        <p:nvSpPr>
          <p:cNvPr id="10" name="Text 8"/>
          <p:cNvSpPr/>
          <p:nvPr/>
        </p:nvSpPr>
        <p:spPr>
          <a:xfrm>
            <a:off x="640080" y="1920240"/>
            <a:ext cx="3383280" cy="2377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注重底层算法创新（DNN/CNN/注意力机制）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多场景技术融合（AI+区块链+AR/VR）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云原生架构、微服务、容器化部署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关注可持续旅游与绿色出行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成熟的安全认证体系（OAuth2.0/JWT）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46320" y="1188720"/>
            <a:ext cx="3840480" cy="338328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0" y="1325880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7B1A2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国内研究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029200" y="1691640"/>
            <a:ext cx="548640" cy="27432"/>
          </a:xfrm>
          <a:prstGeom prst="rect">
            <a:avLst/>
          </a:prstGeom>
          <a:solidFill>
            <a:srgbClr val="7B1A2B"/>
          </a:solidFill>
        </p:spPr>
      </p:sp>
      <p:sp>
        <p:nvSpPr>
          <p:cNvPr id="14" name="Text 12"/>
          <p:cNvSpPr/>
          <p:nvPr/>
        </p:nvSpPr>
        <p:spPr>
          <a:xfrm>
            <a:off x="5029200" y="1920240"/>
            <a:ext cx="3383280" cy="2377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强调技术落地与业务适配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智慧旅游+文旅融合政策驱动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SpringBoot+Vue+Elasticsearch技术栈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多策略混合推荐+协同过滤增强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功能整合与用户体验并重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709160"/>
            <a:ext cx="8229600" cy="13716"/>
          </a:xfrm>
          <a:prstGeom prst="rect">
            <a:avLst/>
          </a:prstGeom>
          <a:solidFill>
            <a:srgbClr val="C8963E"/>
          </a:solid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B1A2B"/>
          </a:solidFill>
        </p:spPr>
      </p:sp>
      <p:sp>
        <p:nvSpPr>
          <p:cNvPr id="3" name="Shape 1"/>
          <p:cNvSpPr/>
          <p:nvPr/>
        </p:nvSpPr>
        <p:spPr>
          <a:xfrm>
            <a:off x="274320" y="228600"/>
            <a:ext cx="8595360" cy="640080"/>
          </a:xfrm>
          <a:prstGeom prst="rect">
            <a:avLst/>
          </a:prstGeom>
          <a:solidFill>
            <a:srgbClr val="7B1A2B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256032"/>
            <a:ext cx="80467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一、系统开发技术栈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868680"/>
            <a:ext cx="1371600" cy="36576"/>
          </a:xfrm>
          <a:prstGeom prst="rect">
            <a:avLst/>
          </a:prstGeom>
          <a:solidFill>
            <a:srgbClr val="C8963E"/>
          </a:solidFill>
        </p:spPr>
      </p:sp>
      <p:sp>
        <p:nvSpPr>
          <p:cNvPr id="6" name="Text 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 / 18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2606040" cy="356616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143000"/>
            <a:ext cx="2606040" cy="502920"/>
          </a:xfrm>
          <a:prstGeom prst="rect">
            <a:avLst/>
          </a:prstGeom>
          <a:solidFill>
            <a:srgbClr val="1B4F72"/>
          </a:solidFill>
        </p:spPr>
      </p:sp>
      <p:sp>
        <p:nvSpPr>
          <p:cNvPr id="9" name="Text 7"/>
          <p:cNvSpPr/>
          <p:nvPr/>
        </p:nvSpPr>
        <p:spPr>
          <a:xfrm>
            <a:off x="457200" y="1188720"/>
            <a:ext cx="2606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前端技术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1828800"/>
            <a:ext cx="2240280" cy="2743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Vue 3 + TypeScript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Vite 构建工具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vue-i18n 中藏双语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ECharts 5.x 可视化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Leaflet 地图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Pinia 状态管理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1143000"/>
            <a:ext cx="2606040" cy="356616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143000"/>
            <a:ext cx="2606040" cy="502920"/>
          </a:xfrm>
          <a:prstGeom prst="rect">
            <a:avLst/>
          </a:prstGeom>
          <a:solidFill>
            <a:srgbClr val="7B1A2B"/>
          </a:solidFill>
        </p:spPr>
      </p:sp>
      <p:sp>
        <p:nvSpPr>
          <p:cNvPr id="13" name="Text 11"/>
          <p:cNvSpPr/>
          <p:nvPr/>
        </p:nvSpPr>
        <p:spPr>
          <a:xfrm>
            <a:off x="3291840" y="1188720"/>
            <a:ext cx="2606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后端技术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74720" y="1828800"/>
            <a:ext cx="2240280" cy="2743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Spring Boot 框架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Spring Security 权限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Spring Data JPA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MyBatis-Plus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Swagger 接口文档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JWT Token 认证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1143000"/>
            <a:ext cx="2606040" cy="356616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143000"/>
            <a:ext cx="2606040" cy="502920"/>
          </a:xfrm>
          <a:prstGeom prst="rect">
            <a:avLst/>
          </a:prstGeom>
          <a:solidFill>
            <a:srgbClr val="C8963E"/>
          </a:solidFill>
        </p:spPr>
      </p:sp>
      <p:sp>
        <p:nvSpPr>
          <p:cNvPr id="17" name="Text 15"/>
          <p:cNvSpPr/>
          <p:nvPr/>
        </p:nvSpPr>
        <p:spPr>
          <a:xfrm>
            <a:off x="6126480" y="1188720"/>
            <a:ext cx="2606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数据与部署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09360" y="1828800"/>
            <a:ext cx="2240280" cy="2743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MySQL 8.0 数据库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Redis 缓存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Nginx 负载均衡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Docker 容器化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HikariCP 连接池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阿里云 WAF 防护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709160"/>
            <a:ext cx="8229600" cy="13716"/>
          </a:xfrm>
          <a:prstGeom prst="rect">
            <a:avLst/>
          </a:prstGeom>
          <a:solidFill>
            <a:srgbClr val="C8963E"/>
          </a:solid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B1A2B"/>
          </a:solidFill>
        </p:spPr>
      </p:sp>
      <p:sp>
        <p:nvSpPr>
          <p:cNvPr id="3" name="Shape 1"/>
          <p:cNvSpPr/>
          <p:nvPr/>
        </p:nvSpPr>
        <p:spPr>
          <a:xfrm>
            <a:off x="274320" y="228600"/>
            <a:ext cx="8595360" cy="640080"/>
          </a:xfrm>
          <a:prstGeom prst="rect">
            <a:avLst/>
          </a:prstGeom>
          <a:solidFill>
            <a:srgbClr val="7B1A2B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256032"/>
            <a:ext cx="80467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二、系统分析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868680"/>
            <a:ext cx="1371600" cy="36576"/>
          </a:xfrm>
          <a:prstGeom prst="rect">
            <a:avLst/>
          </a:prstGeom>
          <a:solidFill>
            <a:srgbClr val="C8963E"/>
          </a:solidFill>
        </p:spPr>
      </p:sp>
      <p:sp>
        <p:nvSpPr>
          <p:cNvPr id="6" name="Text 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 / 18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8229600" cy="118872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28016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B1A2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可行性分析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1645920"/>
            <a:ext cx="7315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技术可行：SpringBoot+Vue+MySQL 开源免费，社区成熟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经济可行：全部使用开源框架，零版权费，硬件要求低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操作可行：响应式设计，简洁易用，多设备适配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法律可行：Spring Security + JWT 认证，合法合规使用用户数据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606040"/>
            <a:ext cx="3840480" cy="20574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2697480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F7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功能需求（用户端）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3063240"/>
            <a:ext cx="338328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登录注册、个人中心管理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景区信息浏览、搜索、评分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旅游线路推荐、收藏与分享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酒店查询与在线预订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旅游资讯浏览、我的收藏/预定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846320" y="2606040"/>
            <a:ext cx="3840480" cy="20574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0" y="2697480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B1A2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非功能需求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29200" y="3063240"/>
            <a:ext cx="338328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性能：页面加载 ≤2s，API响应 ≤1s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安全：HTTPS+AES加密+WAF防护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并发：Nginx负载均衡+HikariCP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界面：西藏地方风格+响应式布局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兼容：PWA离线支持+WebP图片压缩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4709160"/>
            <a:ext cx="8229600" cy="13716"/>
          </a:xfrm>
          <a:prstGeom prst="rect">
            <a:avLst/>
          </a:prstGeom>
          <a:solidFill>
            <a:srgbClr val="C8963E"/>
          </a:solid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B1A2B"/>
          </a:solidFill>
        </p:spPr>
      </p:sp>
      <p:sp>
        <p:nvSpPr>
          <p:cNvPr id="3" name="Shape 1"/>
          <p:cNvSpPr/>
          <p:nvPr/>
        </p:nvSpPr>
        <p:spPr>
          <a:xfrm>
            <a:off x="274320" y="228600"/>
            <a:ext cx="8595360" cy="640080"/>
          </a:xfrm>
          <a:prstGeom prst="rect">
            <a:avLst/>
          </a:prstGeom>
          <a:solidFill>
            <a:srgbClr val="7B1A2B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256032"/>
            <a:ext cx="80467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二、系统总体设计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868680"/>
            <a:ext cx="1371600" cy="36576"/>
          </a:xfrm>
          <a:prstGeom prst="rect">
            <a:avLst/>
          </a:prstGeom>
          <a:solidFill>
            <a:srgbClr val="C8963E"/>
          </a:solidFill>
        </p:spPr>
      </p:sp>
      <p:sp>
        <p:nvSpPr>
          <p:cNvPr id="6" name="Text 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 / 18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7B1A2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系统功能架构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1645920"/>
            <a:ext cx="3840480" cy="301752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645920"/>
            <a:ext cx="3840480" cy="411480"/>
          </a:xfrm>
          <a:prstGeom prst="rect">
            <a:avLst/>
          </a:prstGeom>
          <a:solidFill>
            <a:srgbClr val="1B4F72"/>
          </a:solidFill>
        </p:spPr>
      </p:sp>
      <p:sp>
        <p:nvSpPr>
          <p:cNvPr id="10" name="Text 8"/>
          <p:cNvSpPr/>
          <p:nvPr/>
        </p:nvSpPr>
        <p:spPr>
          <a:xfrm>
            <a:off x="457200" y="1664208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用户端功能模块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2194560"/>
            <a:ext cx="3383280" cy="2286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系统首页（轮播图+热力图+推荐）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景点信息（浏览+搜索+评分+预约）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旅游线路（推荐+收藏+分享）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景区酒店（查询+在线预订）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旅游资讯（旅途问答+攻略）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我的收藏 / 我的预定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846320" y="1645920"/>
            <a:ext cx="3840480" cy="301752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1645920"/>
            <a:ext cx="3840480" cy="411480"/>
          </a:xfrm>
          <a:prstGeom prst="rect">
            <a:avLst/>
          </a:prstGeom>
          <a:solidFill>
            <a:srgbClr val="7B1A2B"/>
          </a:solidFill>
        </p:spPr>
      </p:sp>
      <p:sp>
        <p:nvSpPr>
          <p:cNvPr id="14" name="Text 12"/>
          <p:cNvSpPr/>
          <p:nvPr/>
        </p:nvSpPr>
        <p:spPr>
          <a:xfrm>
            <a:off x="4846320" y="1664208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管理员端功能模块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29200" y="2194560"/>
            <a:ext cx="3383280" cy="2286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数据看板（BI报表+统计图表）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景点/线路/酒店 管理（CRUD）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资讯管理（发布+编辑+删除）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景点预约 / 酒店预约管理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轮播图管理 + 用户管理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个人中心（信息修改）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4709160"/>
            <a:ext cx="8229600" cy="13716"/>
          </a:xfrm>
          <a:prstGeom prst="rect">
            <a:avLst/>
          </a:prstGeom>
          <a:solidFill>
            <a:srgbClr val="C8963E"/>
          </a:solid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B1A2B"/>
          </a:solidFill>
        </p:spPr>
      </p:sp>
      <p:sp>
        <p:nvSpPr>
          <p:cNvPr id="3" name="Shape 1"/>
          <p:cNvSpPr/>
          <p:nvPr/>
        </p:nvSpPr>
        <p:spPr>
          <a:xfrm>
            <a:off x="274320" y="228600"/>
            <a:ext cx="8595360" cy="640080"/>
          </a:xfrm>
          <a:prstGeom prst="rect">
            <a:avLst/>
          </a:prstGeom>
          <a:solidFill>
            <a:srgbClr val="7B1A2B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256032"/>
            <a:ext cx="80467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二、数据库设计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868680"/>
            <a:ext cx="1371600" cy="36576"/>
          </a:xfrm>
          <a:prstGeom prst="rect">
            <a:avLst/>
          </a:prstGeom>
          <a:solidFill>
            <a:srgbClr val="C8963E"/>
          </a:solidFill>
        </p:spPr>
      </p:sp>
      <p:sp>
        <p:nvSpPr>
          <p:cNvPr id="6" name="Text 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 / 18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B1A2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核心数据表设计（11张表）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457200" y="1600200"/>
          <a:ext cx="8229600" cy="2788920"/>
        </p:xfrm>
        <a:graphic>
          <a:graphicData uri="http://schemas.openxmlformats.org/drawingml/2006/table">
            <a:tbl>
              <a:tblPr/>
              <a:tblGrid>
                <a:gridCol w="1280160"/>
                <a:gridCol w="1188720"/>
                <a:gridCol w="5760720"/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表名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A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英文表名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A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关键字段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A2B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D2D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景点表</a:t>
                      </a:r>
                      <a:endParaRPr lang="en-US" sz="9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4F7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spots</a:t>
                      </a:r>
                      <a:endParaRPr lang="en-US" sz="9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name, price, introduce, content, num, images, open_time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0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D2D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用户表</a:t>
                      </a:r>
                      <a:endParaRPr lang="en-US" sz="9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4F7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users</a:t>
                      </a:r>
                      <a:endParaRPr lang="en-US" sz="9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user_name, login_account, user_type, tel, email, password, status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D2D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酒店表</a:t>
                      </a:r>
                      <a:endParaRPr lang="en-US" sz="9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4F7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hotels</a:t>
                      </a:r>
                      <a:endParaRPr lang="en-US" sz="9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attractions_id, name, address, introduce, images, state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0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D2D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景点预约表</a:t>
                      </a:r>
                      <a:endParaRPr lang="en-US" sz="9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4F7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spot_orders</a:t>
                      </a:r>
                      <a:endParaRPr lang="en-US" sz="9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attractions_id, name, num, time, people, state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D2D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酒店预定表</a:t>
                      </a:r>
                      <a:endParaRPr lang="en-US" sz="9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4F7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hotel_orders</a:t>
                      </a:r>
                      <a:endParaRPr lang="en-US" sz="9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hotel_id, item_id, name, price, num, time, state, user_id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0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D2D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评分表</a:t>
                      </a:r>
                      <a:endParaRPr lang="en-US" sz="9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4F7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ratings</a:t>
                      </a:r>
                      <a:endParaRPr lang="en-US" sz="9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attractions_id, user_id, content, avatar, score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D2D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旅游线路表</a:t>
                      </a:r>
                      <a:endParaRPr lang="en-US" sz="9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4F7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routes</a:t>
                      </a:r>
                      <a:endParaRPr lang="en-US" sz="9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name, temperature, geography, content, introduce, images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0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D2D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旅游资讯表</a:t>
                      </a:r>
                      <a:endParaRPr lang="en-US" sz="9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4F7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news</a:t>
                      </a:r>
                      <a:endParaRPr lang="en-US" sz="9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title, content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D2D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收藏表</a:t>
                      </a:r>
                      <a:endParaRPr lang="en-US" sz="9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4F7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favorites</a:t>
                      </a:r>
                      <a:endParaRPr lang="en-US" sz="9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line_id, name, introduce, images, user_id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0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D2D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酒店内容表</a:t>
                      </a:r>
                      <a:endParaRPr lang="en-US" sz="9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4F7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hotel_items</a:t>
                      </a:r>
                      <a:endParaRPr lang="en-US" sz="9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hotel_id, name, price, num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D2D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轮播图表</a:t>
                      </a:r>
                      <a:endParaRPr lang="en-US" sz="9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4F7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carousels</a:t>
                      </a:r>
                      <a:endParaRPr lang="en-US" sz="9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image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A7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0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4709160"/>
            <a:ext cx="8229600" cy="13716"/>
          </a:xfrm>
          <a:prstGeom prst="rect">
            <a:avLst/>
          </a:prstGeom>
          <a:solidFill>
            <a:srgbClr val="C8963E"/>
          </a:solid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B1A2B"/>
          </a:solidFill>
        </p:spPr>
      </p:sp>
      <p:sp>
        <p:nvSpPr>
          <p:cNvPr id="3" name="Shape 1"/>
          <p:cNvSpPr/>
          <p:nvPr/>
        </p:nvSpPr>
        <p:spPr>
          <a:xfrm>
            <a:off x="274320" y="228600"/>
            <a:ext cx="8595360" cy="640080"/>
          </a:xfrm>
          <a:prstGeom prst="rect">
            <a:avLst/>
          </a:prstGeom>
          <a:solidFill>
            <a:srgbClr val="7B1A2B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256032"/>
            <a:ext cx="80467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二、用户端功能详细设计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868680"/>
            <a:ext cx="1371600" cy="36576"/>
          </a:xfrm>
          <a:prstGeom prst="rect">
            <a:avLst/>
          </a:prstGeom>
          <a:solidFill>
            <a:srgbClr val="C8963E"/>
          </a:solidFill>
        </p:spPr>
      </p:sp>
      <p:sp>
        <p:nvSpPr>
          <p:cNvPr id="6" name="Text 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 / 18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8229600" cy="530352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143000"/>
            <a:ext cx="54864" cy="530352"/>
          </a:xfrm>
          <a:prstGeom prst="rect">
            <a:avLst/>
          </a:prstGeom>
          <a:solidFill>
            <a:srgbClr val="7B1A2B"/>
          </a:solidFill>
        </p:spPr>
      </p:sp>
      <p:sp>
        <p:nvSpPr>
          <p:cNvPr id="9" name="Text 7"/>
          <p:cNvSpPr/>
          <p:nvPr/>
        </p:nvSpPr>
        <p:spPr>
          <a:xfrm>
            <a:off x="777240" y="1216152"/>
            <a:ext cx="16459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B1A2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登录注册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468880" y="1216152"/>
            <a:ext cx="5943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JWT Token认证，用户名唯一性校验，密码加密存储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737360"/>
            <a:ext cx="8229600" cy="530352"/>
          </a:xfrm>
          <a:prstGeom prst="rect">
            <a:avLst/>
          </a:prstGeom>
          <a:solidFill>
            <a:srgbClr val="F5EDE0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1737360"/>
            <a:ext cx="54864" cy="530352"/>
          </a:xfrm>
          <a:prstGeom prst="rect">
            <a:avLst/>
          </a:prstGeom>
          <a:solidFill>
            <a:srgbClr val="1B4F72"/>
          </a:solidFill>
        </p:spPr>
      </p:sp>
      <p:sp>
        <p:nvSpPr>
          <p:cNvPr id="13" name="Text 11"/>
          <p:cNvSpPr/>
          <p:nvPr/>
        </p:nvSpPr>
        <p:spPr>
          <a:xfrm>
            <a:off x="777240" y="1810512"/>
            <a:ext cx="16459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F7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系统首页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468880" y="1810512"/>
            <a:ext cx="5943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轮播图展示热门景点 → 游客热力图 → 个性化推荐景点 → 推荐线路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331720"/>
            <a:ext cx="8229600" cy="530352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331720"/>
            <a:ext cx="54864" cy="530352"/>
          </a:xfrm>
          <a:prstGeom prst="rect">
            <a:avLst/>
          </a:prstGeom>
          <a:solidFill>
            <a:srgbClr val="7B1A2B"/>
          </a:solidFill>
        </p:spPr>
      </p:sp>
      <p:sp>
        <p:nvSpPr>
          <p:cNvPr id="17" name="Text 15"/>
          <p:cNvSpPr/>
          <p:nvPr/>
        </p:nvSpPr>
        <p:spPr>
          <a:xfrm>
            <a:off x="777240" y="2404872"/>
            <a:ext cx="16459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B1A2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景点信息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468880" y="2404872"/>
            <a:ext cx="5943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热门景点展示，按名称搜索，查看详情，在线评分，景区门票预约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2926080"/>
            <a:ext cx="8229600" cy="530352"/>
          </a:xfrm>
          <a:prstGeom prst="rect">
            <a:avLst/>
          </a:prstGeom>
          <a:solidFill>
            <a:srgbClr val="F5EDE0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926080"/>
            <a:ext cx="54864" cy="530352"/>
          </a:xfrm>
          <a:prstGeom prst="rect">
            <a:avLst/>
          </a:prstGeom>
          <a:solidFill>
            <a:srgbClr val="1B4F72"/>
          </a:solidFill>
        </p:spPr>
      </p:sp>
      <p:sp>
        <p:nvSpPr>
          <p:cNvPr id="21" name="Text 19"/>
          <p:cNvSpPr/>
          <p:nvPr/>
        </p:nvSpPr>
        <p:spPr>
          <a:xfrm>
            <a:off x="777240" y="2999232"/>
            <a:ext cx="16459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F7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旅游线路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468880" y="2999232"/>
            <a:ext cx="5943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按名称/气温/地理位置搜索线路，收藏优质线路，分享旅行攻略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520440"/>
            <a:ext cx="8229600" cy="530352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520440"/>
            <a:ext cx="54864" cy="530352"/>
          </a:xfrm>
          <a:prstGeom prst="rect">
            <a:avLst/>
          </a:prstGeom>
          <a:solidFill>
            <a:srgbClr val="7B1A2B"/>
          </a:solidFill>
        </p:spPr>
      </p:sp>
      <p:sp>
        <p:nvSpPr>
          <p:cNvPr id="25" name="Text 23"/>
          <p:cNvSpPr/>
          <p:nvPr/>
        </p:nvSpPr>
        <p:spPr>
          <a:xfrm>
            <a:off x="777240" y="3593592"/>
            <a:ext cx="16459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B1A2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景区酒店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468880" y="3593592"/>
            <a:ext cx="5943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按景点或酒店名查询，查看房型详情，在线预订酒店房间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4114800"/>
            <a:ext cx="8229600" cy="530352"/>
          </a:xfrm>
          <a:prstGeom prst="rect">
            <a:avLst/>
          </a:prstGeom>
          <a:solidFill>
            <a:srgbClr val="F5EDE0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" y="4114800"/>
            <a:ext cx="54864" cy="530352"/>
          </a:xfrm>
          <a:prstGeom prst="rect">
            <a:avLst/>
          </a:prstGeom>
          <a:solidFill>
            <a:srgbClr val="1B4F72"/>
          </a:solidFill>
        </p:spPr>
      </p:sp>
      <p:sp>
        <p:nvSpPr>
          <p:cNvPr id="29" name="Text 27"/>
          <p:cNvSpPr/>
          <p:nvPr/>
        </p:nvSpPr>
        <p:spPr>
          <a:xfrm>
            <a:off x="777240" y="4187952"/>
            <a:ext cx="16459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F7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旅游资讯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468880" y="4187952"/>
            <a:ext cx="5943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最新旅游资讯展示，关键词搜索，旅友问答互动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4709160"/>
            <a:ext cx="8229600" cy="13716"/>
          </a:xfrm>
          <a:prstGeom prst="rect">
            <a:avLst/>
          </a:prstGeom>
          <a:solidFill>
            <a:srgbClr val="C8963E"/>
          </a:solid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B1A2B"/>
          </a:solidFill>
        </p:spPr>
      </p:sp>
      <p:sp>
        <p:nvSpPr>
          <p:cNvPr id="3" name="Shape 1"/>
          <p:cNvSpPr/>
          <p:nvPr/>
        </p:nvSpPr>
        <p:spPr>
          <a:xfrm>
            <a:off x="274320" y="228600"/>
            <a:ext cx="8595360" cy="640080"/>
          </a:xfrm>
          <a:prstGeom prst="rect">
            <a:avLst/>
          </a:prstGeom>
          <a:solidFill>
            <a:srgbClr val="7B1A2B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256032"/>
            <a:ext cx="80467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二、管理员端功能详细设计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868680"/>
            <a:ext cx="1371600" cy="36576"/>
          </a:xfrm>
          <a:prstGeom prst="rect">
            <a:avLst/>
          </a:prstGeom>
          <a:solidFill>
            <a:srgbClr val="C8963E"/>
          </a:solidFill>
        </p:spPr>
      </p:sp>
      <p:sp>
        <p:nvSpPr>
          <p:cNvPr id="6" name="Text 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 / 18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8229600" cy="393192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143000"/>
            <a:ext cx="54864" cy="393192"/>
          </a:xfrm>
          <a:prstGeom prst="rect">
            <a:avLst/>
          </a:prstGeom>
          <a:solidFill>
            <a:srgbClr val="7B1A2B"/>
          </a:solidFill>
        </p:spPr>
      </p:sp>
      <p:sp>
        <p:nvSpPr>
          <p:cNvPr id="9" name="Text 7"/>
          <p:cNvSpPr/>
          <p:nvPr/>
        </p:nvSpPr>
        <p:spPr>
          <a:xfrm>
            <a:off x="777240" y="1188720"/>
            <a:ext cx="164592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1A2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首页数据看板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468880" y="1188720"/>
            <a:ext cx="59436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景点/酒店预定数据可视化，根据预定人数和时间绘制折线图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1591056"/>
            <a:ext cx="8229600" cy="393192"/>
          </a:xfrm>
          <a:prstGeom prst="rect">
            <a:avLst/>
          </a:prstGeom>
          <a:solidFill>
            <a:srgbClr val="F5EDE0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1591056"/>
            <a:ext cx="54864" cy="393192"/>
          </a:xfrm>
          <a:prstGeom prst="rect">
            <a:avLst/>
          </a:prstGeom>
          <a:solidFill>
            <a:srgbClr val="1B4F72"/>
          </a:solidFill>
        </p:spPr>
      </p:sp>
      <p:sp>
        <p:nvSpPr>
          <p:cNvPr id="13" name="Text 11"/>
          <p:cNvSpPr/>
          <p:nvPr/>
        </p:nvSpPr>
        <p:spPr>
          <a:xfrm>
            <a:off x="777240" y="1636776"/>
            <a:ext cx="164592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F7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景点管理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468880" y="1636776"/>
            <a:ext cx="59436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景点的添加、删除、编辑、查询，管理景点库存和开放状态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2039112"/>
            <a:ext cx="8229600" cy="393192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039112"/>
            <a:ext cx="54864" cy="393192"/>
          </a:xfrm>
          <a:prstGeom prst="rect">
            <a:avLst/>
          </a:prstGeom>
          <a:solidFill>
            <a:srgbClr val="7B1A2B"/>
          </a:solidFill>
        </p:spPr>
      </p:sp>
      <p:sp>
        <p:nvSpPr>
          <p:cNvPr id="17" name="Text 15"/>
          <p:cNvSpPr/>
          <p:nvPr/>
        </p:nvSpPr>
        <p:spPr>
          <a:xfrm>
            <a:off x="777240" y="2084832"/>
            <a:ext cx="164592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1A2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线路管理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468880" y="2084832"/>
            <a:ext cx="59436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旅游线路的添加、删除、编辑、查询，管理线路信息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2487168"/>
            <a:ext cx="8229600" cy="393192"/>
          </a:xfrm>
          <a:prstGeom prst="rect">
            <a:avLst/>
          </a:prstGeom>
          <a:solidFill>
            <a:srgbClr val="F5EDE0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487168"/>
            <a:ext cx="54864" cy="393192"/>
          </a:xfrm>
          <a:prstGeom prst="rect">
            <a:avLst/>
          </a:prstGeom>
          <a:solidFill>
            <a:srgbClr val="1B4F72"/>
          </a:solidFill>
        </p:spPr>
      </p:sp>
      <p:sp>
        <p:nvSpPr>
          <p:cNvPr id="21" name="Text 19"/>
          <p:cNvSpPr/>
          <p:nvPr/>
        </p:nvSpPr>
        <p:spPr>
          <a:xfrm>
            <a:off x="777240" y="2532888"/>
            <a:ext cx="164592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F7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酒店管理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468880" y="2532888"/>
            <a:ext cx="59436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酒店及房型的添加、删除、编辑，管理酒店内容和库存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7200" y="2935224"/>
            <a:ext cx="8229600" cy="393192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2935224"/>
            <a:ext cx="54864" cy="393192"/>
          </a:xfrm>
          <a:prstGeom prst="rect">
            <a:avLst/>
          </a:prstGeom>
          <a:solidFill>
            <a:srgbClr val="7B1A2B"/>
          </a:solidFill>
        </p:spPr>
      </p:sp>
      <p:sp>
        <p:nvSpPr>
          <p:cNvPr id="25" name="Text 23"/>
          <p:cNvSpPr/>
          <p:nvPr/>
        </p:nvSpPr>
        <p:spPr>
          <a:xfrm>
            <a:off x="777240" y="2980944"/>
            <a:ext cx="164592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1A2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资讯管理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468880" y="2980944"/>
            <a:ext cx="59436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旅游资讯的发布、编辑、删除，管理最新旅游动态信息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57200" y="3383280"/>
            <a:ext cx="8229600" cy="393192"/>
          </a:xfrm>
          <a:prstGeom prst="rect">
            <a:avLst/>
          </a:prstGeom>
          <a:solidFill>
            <a:srgbClr val="F5EDE0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" y="3383280"/>
            <a:ext cx="54864" cy="393192"/>
          </a:xfrm>
          <a:prstGeom prst="rect">
            <a:avLst/>
          </a:prstGeom>
          <a:solidFill>
            <a:srgbClr val="1B4F72"/>
          </a:solidFill>
        </p:spPr>
      </p:sp>
      <p:sp>
        <p:nvSpPr>
          <p:cNvPr id="29" name="Text 27"/>
          <p:cNvSpPr/>
          <p:nvPr/>
        </p:nvSpPr>
        <p:spPr>
          <a:xfrm>
            <a:off x="777240" y="3429000"/>
            <a:ext cx="164592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F7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预约管理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468880" y="3429000"/>
            <a:ext cx="59436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景点预约确认/取消，酒店订单确认/使用/修改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57200" y="3831336"/>
            <a:ext cx="8229600" cy="393192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57200" y="3831336"/>
            <a:ext cx="54864" cy="393192"/>
          </a:xfrm>
          <a:prstGeom prst="rect">
            <a:avLst/>
          </a:prstGeom>
          <a:solidFill>
            <a:srgbClr val="7B1A2B"/>
          </a:solidFill>
        </p:spPr>
      </p:sp>
      <p:sp>
        <p:nvSpPr>
          <p:cNvPr id="33" name="Text 31"/>
          <p:cNvSpPr/>
          <p:nvPr/>
        </p:nvSpPr>
        <p:spPr>
          <a:xfrm>
            <a:off x="777240" y="3877056"/>
            <a:ext cx="164592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1A2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轮播图管理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468880" y="3877056"/>
            <a:ext cx="59436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首页轮播图照片的添加、删除、编辑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57200" y="4279392"/>
            <a:ext cx="8229600" cy="393192"/>
          </a:xfrm>
          <a:prstGeom prst="rect">
            <a:avLst/>
          </a:prstGeom>
          <a:solidFill>
            <a:srgbClr val="F5EDE0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57200" y="4279392"/>
            <a:ext cx="54864" cy="393192"/>
          </a:xfrm>
          <a:prstGeom prst="rect">
            <a:avLst/>
          </a:prstGeom>
          <a:solidFill>
            <a:srgbClr val="1B4F72"/>
          </a:solidFill>
        </p:spPr>
      </p:sp>
      <p:sp>
        <p:nvSpPr>
          <p:cNvPr id="37" name="Text 35"/>
          <p:cNvSpPr/>
          <p:nvPr/>
        </p:nvSpPr>
        <p:spPr>
          <a:xfrm>
            <a:off x="777240" y="4325112"/>
            <a:ext cx="164592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F7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用户管理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2468880" y="4325112"/>
            <a:ext cx="59436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普通用户和管理员的添加、删除、编辑，权限控制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457200" y="4709160"/>
            <a:ext cx="8229600" cy="13716"/>
          </a:xfrm>
          <a:prstGeom prst="rect">
            <a:avLst/>
          </a:prstGeom>
          <a:solidFill>
            <a:srgbClr val="C8963E"/>
          </a:solid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B1A2B"/>
          </a:solidFill>
        </p:spPr>
      </p:sp>
      <p:sp>
        <p:nvSpPr>
          <p:cNvPr id="3" name="Shape 1"/>
          <p:cNvSpPr/>
          <p:nvPr/>
        </p:nvSpPr>
        <p:spPr>
          <a:xfrm>
            <a:off x="274320" y="228600"/>
            <a:ext cx="8595360" cy="640080"/>
          </a:xfrm>
          <a:prstGeom prst="rect">
            <a:avLst/>
          </a:prstGeom>
          <a:solidFill>
            <a:srgbClr val="7B1A2B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256032"/>
            <a:ext cx="80467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三、关键技术 — 协同过滤推荐算法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868680"/>
            <a:ext cx="1371600" cy="36576"/>
          </a:xfrm>
          <a:prstGeom prst="rect">
            <a:avLst/>
          </a:prstGeom>
          <a:solidFill>
            <a:srgbClr val="C8963E"/>
          </a:solidFill>
        </p:spPr>
      </p:sp>
      <p:sp>
        <p:nvSpPr>
          <p:cNvPr id="6" name="Text 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 / 18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14300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B1A2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基于用户的协同过滤算法流程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645920"/>
            <a:ext cx="4572000" cy="64008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645920"/>
            <a:ext cx="640080" cy="640080"/>
          </a:xfrm>
          <a:prstGeom prst="rect">
            <a:avLst/>
          </a:prstGeom>
          <a:solidFill>
            <a:srgbClr val="7B1A2B"/>
          </a:solidFill>
        </p:spPr>
      </p:sp>
      <p:sp>
        <p:nvSpPr>
          <p:cNvPr id="10" name="Text 8"/>
          <p:cNvSpPr/>
          <p:nvPr/>
        </p:nvSpPr>
        <p:spPr>
          <a:xfrm>
            <a:off x="457200" y="173736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80160" y="169164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1A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数据采集与预处理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80160" y="196596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收集用户评分、评论、浏览记录等行为数据，清洗缺失值和异常值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377440"/>
            <a:ext cx="4572000" cy="64008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377440"/>
            <a:ext cx="640080" cy="640080"/>
          </a:xfrm>
          <a:prstGeom prst="rect">
            <a:avLst/>
          </a:prstGeom>
          <a:solidFill>
            <a:srgbClr val="7B1A2B"/>
          </a:solidFill>
        </p:spPr>
      </p:sp>
      <p:sp>
        <p:nvSpPr>
          <p:cNvPr id="15" name="Text 13"/>
          <p:cNvSpPr/>
          <p:nvPr/>
        </p:nvSpPr>
        <p:spPr>
          <a:xfrm>
            <a:off x="457200" y="246888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280160" y="242316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1A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建立用户-景点矩阵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80160" y="269748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将行为数据抽象为 User×Item 矩阵，混合权重法计算喜好程度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108960"/>
            <a:ext cx="4572000" cy="64008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108960"/>
            <a:ext cx="640080" cy="640080"/>
          </a:xfrm>
          <a:prstGeom prst="rect">
            <a:avLst/>
          </a:prstGeom>
          <a:solidFill>
            <a:srgbClr val="7B1A2B"/>
          </a:solidFill>
        </p:spPr>
      </p:sp>
      <p:sp>
        <p:nvSpPr>
          <p:cNvPr id="20" name="Text 18"/>
          <p:cNvSpPr/>
          <p:nvPr/>
        </p:nvSpPr>
        <p:spPr>
          <a:xfrm>
            <a:off x="457200" y="320040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280160" y="315468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1A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计算用户相似度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80160" y="342900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改进余弦相似度衡量用户兴趣相似性，选取Top-K近邻用户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840480"/>
            <a:ext cx="4572000" cy="64008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840480"/>
            <a:ext cx="640080" cy="640080"/>
          </a:xfrm>
          <a:prstGeom prst="rect">
            <a:avLst/>
          </a:prstGeom>
          <a:solidFill>
            <a:srgbClr val="7B1A2B"/>
          </a:solidFill>
        </p:spPr>
      </p:sp>
      <p:sp>
        <p:nvSpPr>
          <p:cNvPr id="25" name="Text 23"/>
          <p:cNvSpPr/>
          <p:nvPr/>
        </p:nvSpPr>
        <p:spPr>
          <a:xfrm>
            <a:off x="457200" y="393192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280160" y="388620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1A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生成推荐列表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280160" y="416052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加权分数聚合预测兴趣度，输出Top-N个性化推荐，实时更新模型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394960" y="1143000"/>
            <a:ext cx="3291840" cy="347472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394960" y="1143000"/>
            <a:ext cx="3291840" cy="411480"/>
          </a:xfrm>
          <a:prstGeom prst="rect">
            <a:avLst/>
          </a:prstGeom>
          <a:solidFill>
            <a:srgbClr val="C8963E"/>
          </a:solidFill>
        </p:spPr>
      </p:sp>
      <p:sp>
        <p:nvSpPr>
          <p:cNvPr id="30" name="Text 28"/>
          <p:cNvSpPr/>
          <p:nvPr/>
        </p:nvSpPr>
        <p:spPr>
          <a:xfrm>
            <a:off x="5394960" y="1161288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评价指标体系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577840" y="1691640"/>
            <a:ext cx="2926080" cy="2743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景区等级C1（A级景区评定）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景观特色C2（自然/文化/非遗）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交通可达性C3（交通便利度）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配套服务C4（餐饮/住宿/停车）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游客评价C5（评分/评论）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收藏热度C6（收藏/浏览/预约量）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信息完整度C7（图文/价格/时间）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577840" y="416052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A7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AHP层次分析法确定权重，CR值一致性检验通过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4709160"/>
            <a:ext cx="8229600" cy="13716"/>
          </a:xfrm>
          <a:prstGeom prst="rect">
            <a:avLst/>
          </a:prstGeom>
          <a:solidFill>
            <a:srgbClr val="C8963E"/>
          </a:solidFill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B1A2B"/>
          </a:solidFill>
        </p:spPr>
      </p:sp>
      <p:sp>
        <p:nvSpPr>
          <p:cNvPr id="3" name="Shape 1"/>
          <p:cNvSpPr/>
          <p:nvPr/>
        </p:nvSpPr>
        <p:spPr>
          <a:xfrm>
            <a:off x="274320" y="228600"/>
            <a:ext cx="8595360" cy="640080"/>
          </a:xfrm>
          <a:prstGeom prst="rect">
            <a:avLst/>
          </a:prstGeom>
          <a:solidFill>
            <a:srgbClr val="7B1A2B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256032"/>
            <a:ext cx="80467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三、关键技术 — ECharts数据可视化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868680"/>
            <a:ext cx="1371600" cy="36576"/>
          </a:xfrm>
          <a:prstGeom prst="rect">
            <a:avLst/>
          </a:prstGeom>
          <a:solidFill>
            <a:srgbClr val="C8963E"/>
          </a:solidFill>
        </p:spPr>
      </p:sp>
      <p:sp>
        <p:nvSpPr>
          <p:cNvPr id="6" name="Text 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 / 18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B1A2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基于ECharts的旅游大数据分析平台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645920"/>
            <a:ext cx="8229600" cy="100584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1828800"/>
            <a:ext cx="548640" cy="548640"/>
          </a:xfrm>
          <a:prstGeom prst="ellipse">
            <a:avLst/>
          </a:prstGeom>
          <a:solidFill>
            <a:srgbClr val="7B1A2B"/>
          </a:solidFill>
        </p:spPr>
      </p:sp>
      <p:sp>
        <p:nvSpPr>
          <p:cNvPr id="10" name="Text 8"/>
          <p:cNvSpPr/>
          <p:nvPr/>
        </p:nvSpPr>
        <p:spPr>
          <a:xfrm>
            <a:off x="731520" y="187452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2423160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确定研究目的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325880" y="2057400"/>
            <a:ext cx="960120" cy="27432"/>
          </a:xfrm>
          <a:prstGeom prst="rect">
            <a:avLst/>
          </a:prstGeom>
          <a:solidFill>
            <a:srgbClr val="C8963E"/>
          </a:solidFill>
        </p:spPr>
      </p:sp>
      <p:sp>
        <p:nvSpPr>
          <p:cNvPr id="13" name="Shape 11"/>
          <p:cNvSpPr/>
          <p:nvPr/>
        </p:nvSpPr>
        <p:spPr>
          <a:xfrm>
            <a:off x="2331720" y="1828800"/>
            <a:ext cx="548640" cy="548640"/>
          </a:xfrm>
          <a:prstGeom prst="ellipse">
            <a:avLst/>
          </a:prstGeom>
          <a:solidFill>
            <a:srgbClr val="1B4F72"/>
          </a:solidFill>
        </p:spPr>
      </p:sp>
      <p:sp>
        <p:nvSpPr>
          <p:cNvPr id="14" name="Text 12"/>
          <p:cNvSpPr/>
          <p:nvPr/>
        </p:nvSpPr>
        <p:spPr>
          <a:xfrm>
            <a:off x="2331720" y="187452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057400" y="2423160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收集原始数据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926080" y="2057400"/>
            <a:ext cx="960120" cy="27432"/>
          </a:xfrm>
          <a:prstGeom prst="rect">
            <a:avLst/>
          </a:prstGeom>
          <a:solidFill>
            <a:srgbClr val="C8963E"/>
          </a:solidFill>
        </p:spPr>
      </p:sp>
      <p:sp>
        <p:nvSpPr>
          <p:cNvPr id="17" name="Shape 15"/>
          <p:cNvSpPr/>
          <p:nvPr/>
        </p:nvSpPr>
        <p:spPr>
          <a:xfrm>
            <a:off x="3931920" y="1828800"/>
            <a:ext cx="548640" cy="548640"/>
          </a:xfrm>
          <a:prstGeom prst="ellipse">
            <a:avLst/>
          </a:prstGeom>
          <a:solidFill>
            <a:srgbClr val="1B4F72"/>
          </a:solidFill>
        </p:spPr>
      </p:sp>
      <p:sp>
        <p:nvSpPr>
          <p:cNvPr id="18" name="Text 16"/>
          <p:cNvSpPr/>
          <p:nvPr/>
        </p:nvSpPr>
        <p:spPr>
          <a:xfrm>
            <a:off x="3931920" y="187452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657600" y="2423160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数据清洗预处理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26280" y="2057400"/>
            <a:ext cx="960120" cy="27432"/>
          </a:xfrm>
          <a:prstGeom prst="rect">
            <a:avLst/>
          </a:prstGeom>
          <a:solidFill>
            <a:srgbClr val="C8963E"/>
          </a:solidFill>
        </p:spPr>
      </p:sp>
      <p:sp>
        <p:nvSpPr>
          <p:cNvPr id="21" name="Shape 19"/>
          <p:cNvSpPr/>
          <p:nvPr/>
        </p:nvSpPr>
        <p:spPr>
          <a:xfrm>
            <a:off x="5532120" y="1828800"/>
            <a:ext cx="548640" cy="548640"/>
          </a:xfrm>
          <a:prstGeom prst="ellipse">
            <a:avLst/>
          </a:prstGeom>
          <a:solidFill>
            <a:srgbClr val="1B4F72"/>
          </a:solidFill>
        </p:spPr>
      </p:sp>
      <p:sp>
        <p:nvSpPr>
          <p:cNvPr id="22" name="Text 20"/>
          <p:cNvSpPr/>
          <p:nvPr/>
        </p:nvSpPr>
        <p:spPr>
          <a:xfrm>
            <a:off x="5532120" y="187452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257800" y="2423160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数据分析建模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0" y="2057400"/>
            <a:ext cx="960120" cy="27432"/>
          </a:xfrm>
          <a:prstGeom prst="rect">
            <a:avLst/>
          </a:prstGeom>
          <a:solidFill>
            <a:srgbClr val="C8963E"/>
          </a:solidFill>
        </p:spPr>
      </p:sp>
      <p:sp>
        <p:nvSpPr>
          <p:cNvPr id="25" name="Shape 23"/>
          <p:cNvSpPr/>
          <p:nvPr/>
        </p:nvSpPr>
        <p:spPr>
          <a:xfrm>
            <a:off x="7132320" y="1828800"/>
            <a:ext cx="548640" cy="548640"/>
          </a:xfrm>
          <a:prstGeom prst="ellipse">
            <a:avLst/>
          </a:prstGeom>
          <a:solidFill>
            <a:srgbClr val="C8963E"/>
          </a:solidFill>
        </p:spPr>
      </p:sp>
      <p:sp>
        <p:nvSpPr>
          <p:cNvPr id="26" name="Text 24"/>
          <p:cNvSpPr/>
          <p:nvPr/>
        </p:nvSpPr>
        <p:spPr>
          <a:xfrm>
            <a:off x="7132320" y="187452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858000" y="2423160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可视化展示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2880360"/>
            <a:ext cx="8229600" cy="18288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40080" y="297180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F7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可视化图表类型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31520" y="3383280"/>
            <a:ext cx="1371600" cy="1188720"/>
          </a:xfrm>
          <a:prstGeom prst="rect">
            <a:avLst/>
          </a:prstGeom>
          <a:solidFill>
            <a:srgbClr val="EDE0DF"/>
          </a:solidFill>
        </p:spPr>
      </p:sp>
      <p:sp>
        <p:nvSpPr>
          <p:cNvPr id="31" name="Shape 29"/>
          <p:cNvSpPr/>
          <p:nvPr/>
        </p:nvSpPr>
        <p:spPr>
          <a:xfrm>
            <a:off x="731520" y="3383280"/>
            <a:ext cx="36576" cy="1188720"/>
          </a:xfrm>
          <a:prstGeom prst="rect">
            <a:avLst/>
          </a:prstGeom>
          <a:solidFill>
            <a:srgbClr val="7B1A2B"/>
          </a:solidFill>
        </p:spPr>
      </p:sp>
      <p:sp>
        <p:nvSpPr>
          <p:cNvPr id="32" name="Text 30"/>
          <p:cNvSpPr/>
          <p:nvPr/>
        </p:nvSpPr>
        <p:spPr>
          <a:xfrm>
            <a:off x="822960" y="342900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1A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折线图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22960" y="3749040"/>
            <a:ext cx="11887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近7天景点/酒店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预订数量变化趋势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331720" y="3383280"/>
            <a:ext cx="1371600" cy="1188720"/>
          </a:xfrm>
          <a:prstGeom prst="rect">
            <a:avLst/>
          </a:prstGeom>
          <a:solidFill>
            <a:srgbClr val="E3EBF0"/>
          </a:solidFill>
        </p:spPr>
      </p:sp>
      <p:sp>
        <p:nvSpPr>
          <p:cNvPr id="35" name="Shape 33"/>
          <p:cNvSpPr/>
          <p:nvPr/>
        </p:nvSpPr>
        <p:spPr>
          <a:xfrm>
            <a:off x="2331720" y="3383280"/>
            <a:ext cx="36576" cy="1188720"/>
          </a:xfrm>
          <a:prstGeom prst="rect">
            <a:avLst/>
          </a:prstGeom>
          <a:solidFill>
            <a:srgbClr val="1B4F72"/>
          </a:solidFill>
        </p:spPr>
      </p:sp>
      <p:sp>
        <p:nvSpPr>
          <p:cNvPr id="36" name="Text 34"/>
          <p:cNvSpPr/>
          <p:nvPr/>
        </p:nvSpPr>
        <p:spPr>
          <a:xfrm>
            <a:off x="2423160" y="342900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F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饼状图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423160" y="3749040"/>
            <a:ext cx="11887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各类别景点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所占比例分析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931920" y="3383280"/>
            <a:ext cx="1371600" cy="1188720"/>
          </a:xfrm>
          <a:prstGeom prst="rect">
            <a:avLst/>
          </a:prstGeom>
          <a:solidFill>
            <a:srgbClr val="EDE0DF"/>
          </a:solidFill>
        </p:spPr>
      </p:sp>
      <p:sp>
        <p:nvSpPr>
          <p:cNvPr id="39" name="Shape 37"/>
          <p:cNvSpPr/>
          <p:nvPr/>
        </p:nvSpPr>
        <p:spPr>
          <a:xfrm>
            <a:off x="3931920" y="3383280"/>
            <a:ext cx="36576" cy="1188720"/>
          </a:xfrm>
          <a:prstGeom prst="rect">
            <a:avLst/>
          </a:prstGeom>
          <a:solidFill>
            <a:srgbClr val="7B1A2B"/>
          </a:solidFill>
        </p:spPr>
      </p:sp>
      <p:sp>
        <p:nvSpPr>
          <p:cNvPr id="40" name="Text 38"/>
          <p:cNvSpPr/>
          <p:nvPr/>
        </p:nvSpPr>
        <p:spPr>
          <a:xfrm>
            <a:off x="4023360" y="342900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1A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柱状图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023360" y="3749040"/>
            <a:ext cx="11887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Top20热门景点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排名对比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532120" y="3383280"/>
            <a:ext cx="1371600" cy="1188720"/>
          </a:xfrm>
          <a:prstGeom prst="rect">
            <a:avLst/>
          </a:prstGeom>
          <a:solidFill>
            <a:srgbClr val="E3EBF0"/>
          </a:solidFill>
        </p:spPr>
      </p:sp>
      <p:sp>
        <p:nvSpPr>
          <p:cNvPr id="43" name="Shape 41"/>
          <p:cNvSpPr/>
          <p:nvPr/>
        </p:nvSpPr>
        <p:spPr>
          <a:xfrm>
            <a:off x="5532120" y="3383280"/>
            <a:ext cx="36576" cy="1188720"/>
          </a:xfrm>
          <a:prstGeom prst="rect">
            <a:avLst/>
          </a:prstGeom>
          <a:solidFill>
            <a:srgbClr val="1B4F72"/>
          </a:solidFill>
        </p:spPr>
      </p:sp>
      <p:sp>
        <p:nvSpPr>
          <p:cNvPr id="44" name="Text 42"/>
          <p:cNvSpPr/>
          <p:nvPr/>
        </p:nvSpPr>
        <p:spPr>
          <a:xfrm>
            <a:off x="5623560" y="342900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F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词云图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623560" y="3749040"/>
            <a:ext cx="11887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景点热搜词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可视化展示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7132320" y="3383280"/>
            <a:ext cx="1371600" cy="1188720"/>
          </a:xfrm>
          <a:prstGeom prst="rect">
            <a:avLst/>
          </a:prstGeom>
          <a:solidFill>
            <a:srgbClr val="F7F0E3"/>
          </a:solidFill>
        </p:spPr>
      </p:sp>
      <p:sp>
        <p:nvSpPr>
          <p:cNvPr id="47" name="Shape 45"/>
          <p:cNvSpPr/>
          <p:nvPr/>
        </p:nvSpPr>
        <p:spPr>
          <a:xfrm>
            <a:off x="7132320" y="3383280"/>
            <a:ext cx="36576" cy="1188720"/>
          </a:xfrm>
          <a:prstGeom prst="rect">
            <a:avLst/>
          </a:prstGeom>
          <a:solidFill>
            <a:srgbClr val="C8963E"/>
          </a:solidFill>
        </p:spPr>
      </p:sp>
      <p:sp>
        <p:nvSpPr>
          <p:cNvPr id="48" name="Text 46"/>
          <p:cNvSpPr/>
          <p:nvPr/>
        </p:nvSpPr>
        <p:spPr>
          <a:xfrm>
            <a:off x="7223760" y="342900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96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热力图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7223760" y="3749040"/>
            <a:ext cx="11887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游客分布密度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实时监测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57200" y="4709160"/>
            <a:ext cx="8229600" cy="13716"/>
          </a:xfrm>
          <a:prstGeom prst="rect">
            <a:avLst/>
          </a:prstGeom>
          <a:solidFill>
            <a:srgbClr val="C8963E"/>
          </a:solidFill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B1A2B"/>
          </a:solidFill>
        </p:spPr>
      </p:sp>
      <p:sp>
        <p:nvSpPr>
          <p:cNvPr id="3" name="Shape 1"/>
          <p:cNvSpPr/>
          <p:nvPr/>
        </p:nvSpPr>
        <p:spPr>
          <a:xfrm>
            <a:off x="274320" y="228600"/>
            <a:ext cx="8595360" cy="640080"/>
          </a:xfrm>
          <a:prstGeom prst="rect">
            <a:avLst/>
          </a:prstGeom>
          <a:solidFill>
            <a:srgbClr val="7B1A2B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256032"/>
            <a:ext cx="80467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三、关键技术 — 热力图展示技术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868680"/>
            <a:ext cx="1371600" cy="36576"/>
          </a:xfrm>
          <a:prstGeom prst="rect">
            <a:avLst/>
          </a:prstGeom>
          <a:solidFill>
            <a:srgbClr val="C8963E"/>
          </a:solidFill>
        </p:spPr>
      </p:sp>
      <p:sp>
        <p:nvSpPr>
          <p:cNvPr id="6" name="Text 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 / 18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B1A2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西藏景区游客热力图技术方案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645920"/>
            <a:ext cx="5029200" cy="301752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173736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F7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核心技术实现流程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148840"/>
            <a:ext cx="4572000" cy="2286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① 数据映射：将游客行为数据（搜索/预约次数）映射到地理坐标空间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② 核密度估计：使用KDE算法将离散数据点转换为连续密度分布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③ 颜色编码：红(高密度) → 黄(中) → 蓝(低密度) 渐变色阶映射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④ 动态渲染：每2.5秒更新数据，形成"呼吸式"视觉节奏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⑤ 交互优化：支持缩放、悬停提示，WebGL加速大数据渲染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760720" y="1645920"/>
            <a:ext cx="2926080" cy="301752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0" y="173736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B1A2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技术方案对比</a:t>
            </a:r>
            <a:endParaRPr lang="en-US" sz="1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/>
        </p:nvGraphicFramePr>
        <p:xfrm>
          <a:off x="5943600" y="2194560"/>
          <a:ext cx="2560320" cy="1600200"/>
        </p:xfrm>
        <a:graphic>
          <a:graphicData uri="http://schemas.openxmlformats.org/drawingml/2006/table">
            <a:tbl>
              <a:tblPr/>
              <a:tblGrid>
                <a:gridCol w="1097280"/>
                <a:gridCol w="1463040"/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方案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A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场景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A2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2D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Canvas</a:t>
                      </a:r>
                      <a:endParaRPr lang="en-US" sz="9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2D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网页交互</a:t>
                      </a:r>
                      <a:endParaRPr lang="en-US" sz="9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2D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OpenCV</a:t>
                      </a:r>
                      <a:endParaRPr lang="en-US" sz="9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2D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离线分析</a:t>
                      </a:r>
                      <a:endParaRPr lang="en-US" sz="9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2D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地图API</a:t>
                      </a:r>
                      <a:endParaRPr lang="en-US" sz="9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2D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地理可视化</a:t>
                      </a:r>
                      <a:endParaRPr lang="en-US" sz="9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7B1A2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ECharts</a:t>
                      </a:r>
                      <a:endParaRPr lang="en-US" sz="9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7B1A2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本系统</a:t>
                      </a:r>
                      <a:endParaRPr lang="en-US" sz="9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5943600" y="3840480"/>
            <a:ext cx="25603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7A7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三图互补方案：ECharts(热力图) + Leaflet(轻量标注) + 高德地图(路网)</a:t>
            </a:r>
            <a:endParaRPr lang="en-US" sz="1000" dirty="0"/>
          </a:p>
        </p:txBody>
      </p:sp>
      <p:sp>
        <p:nvSpPr>
          <p:cNvPr id="13" name="Shape 12"/>
          <p:cNvSpPr/>
          <p:nvPr/>
        </p:nvSpPr>
        <p:spPr>
          <a:xfrm>
            <a:off x="457200" y="4709160"/>
            <a:ext cx="8229600" cy="13716"/>
          </a:xfrm>
          <a:prstGeom prst="rect">
            <a:avLst/>
          </a:prstGeom>
          <a:solidFill>
            <a:srgbClr val="C8963E"/>
          </a:solidFill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B1A2B"/>
          </a:solidFill>
        </p:spPr>
      </p:sp>
      <p:sp>
        <p:nvSpPr>
          <p:cNvPr id="3" name="Shape 1"/>
          <p:cNvSpPr/>
          <p:nvPr/>
        </p:nvSpPr>
        <p:spPr>
          <a:xfrm>
            <a:off x="274320" y="228600"/>
            <a:ext cx="8595360" cy="640080"/>
          </a:xfrm>
          <a:prstGeom prst="rect">
            <a:avLst/>
          </a:prstGeom>
          <a:solidFill>
            <a:srgbClr val="7B1A2B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256032"/>
            <a:ext cx="80467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四、系统实现 — 首页与用户模块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868680"/>
            <a:ext cx="1371600" cy="36576"/>
          </a:xfrm>
          <a:prstGeom prst="rect">
            <a:avLst/>
          </a:prstGeom>
          <a:solidFill>
            <a:srgbClr val="C8963E"/>
          </a:solidFill>
        </p:spPr>
      </p:sp>
      <p:sp>
        <p:nvSpPr>
          <p:cNvPr id="6" name="Text 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 / 18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3931920" cy="105156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143000"/>
            <a:ext cx="54864" cy="1051560"/>
          </a:xfrm>
          <a:prstGeom prst="rect">
            <a:avLst/>
          </a:prstGeom>
          <a:solidFill>
            <a:srgbClr val="7B1A2B"/>
          </a:solidFill>
        </p:spPr>
      </p:sp>
      <p:sp>
        <p:nvSpPr>
          <p:cNvPr id="9" name="Text 7"/>
          <p:cNvSpPr/>
          <p:nvPr/>
        </p:nvSpPr>
        <p:spPr>
          <a:xfrm>
            <a:off x="685800" y="1216152"/>
            <a:ext cx="3474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B1A2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轮播图播放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1527048"/>
            <a:ext cx="34747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管理员上传景点照片后在首页自动轮播，4秒切换，包含布达拉宫、纳木错、扎基寺等经典图片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143000"/>
            <a:ext cx="3931920" cy="105156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143000"/>
            <a:ext cx="54864" cy="1051560"/>
          </a:xfrm>
          <a:prstGeom prst="rect">
            <a:avLst/>
          </a:prstGeom>
          <a:solidFill>
            <a:srgbClr val="1B4F72"/>
          </a:solidFill>
        </p:spPr>
      </p:sp>
      <p:sp>
        <p:nvSpPr>
          <p:cNvPr id="13" name="Text 11"/>
          <p:cNvSpPr/>
          <p:nvPr/>
        </p:nvSpPr>
        <p:spPr>
          <a:xfrm>
            <a:off x="4892040" y="1216152"/>
            <a:ext cx="3474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F7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游客热力图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92040" y="1527048"/>
            <a:ext cx="34747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基于ECharts+西藏GeoJSON，按景点人数生成动态热力图，颜色深浅反映热度，每2.5秒更新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331720"/>
            <a:ext cx="3931920" cy="105156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331720"/>
            <a:ext cx="54864" cy="1051560"/>
          </a:xfrm>
          <a:prstGeom prst="rect">
            <a:avLst/>
          </a:prstGeom>
          <a:solidFill>
            <a:srgbClr val="C8963E"/>
          </a:solidFill>
        </p:spPr>
      </p:sp>
      <p:sp>
        <p:nvSpPr>
          <p:cNvPr id="17" name="Text 15"/>
          <p:cNvSpPr/>
          <p:nvPr/>
        </p:nvSpPr>
        <p:spPr>
          <a:xfrm>
            <a:off x="685800" y="2404872"/>
            <a:ext cx="3474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963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数据BI报表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" y="2715768"/>
            <a:ext cx="34747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展示近7天景点/酒店预定数据和人数变化折线图，为运营分析提供决策支持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63440" y="2331720"/>
            <a:ext cx="3931920" cy="105156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2331720"/>
            <a:ext cx="54864" cy="1051560"/>
          </a:xfrm>
          <a:prstGeom prst="rect">
            <a:avLst/>
          </a:prstGeom>
          <a:solidFill>
            <a:srgbClr val="7B1A2B"/>
          </a:solidFill>
        </p:spPr>
      </p:sp>
      <p:sp>
        <p:nvSpPr>
          <p:cNvPr id="21" name="Text 19"/>
          <p:cNvSpPr/>
          <p:nvPr/>
        </p:nvSpPr>
        <p:spPr>
          <a:xfrm>
            <a:off x="4892040" y="2404872"/>
            <a:ext cx="3474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B1A2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用户登录注册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92040" y="2715768"/>
            <a:ext cx="34747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JWT Token认证机制，用户名唯一性校验，Spring Security权限拦截，密码加密存储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3520440"/>
            <a:ext cx="3931920" cy="105156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520440"/>
            <a:ext cx="54864" cy="1051560"/>
          </a:xfrm>
          <a:prstGeom prst="rect">
            <a:avLst/>
          </a:prstGeom>
          <a:solidFill>
            <a:srgbClr val="1B4F72"/>
          </a:solidFill>
        </p:spPr>
      </p:sp>
      <p:sp>
        <p:nvSpPr>
          <p:cNvPr id="25" name="Text 23"/>
          <p:cNvSpPr/>
          <p:nvPr/>
        </p:nvSpPr>
        <p:spPr>
          <a:xfrm>
            <a:off x="685800" y="3593592"/>
            <a:ext cx="3474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F7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我的收藏/预定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5800" y="3904488"/>
            <a:ext cx="34747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收藏旅游线路，查看及取消收藏；查看景点和酒店预定，取消或修改订单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663440" y="3520440"/>
            <a:ext cx="3931920" cy="105156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3440" y="3520440"/>
            <a:ext cx="54864" cy="1051560"/>
          </a:xfrm>
          <a:prstGeom prst="rect">
            <a:avLst/>
          </a:prstGeom>
          <a:solidFill>
            <a:srgbClr val="7B1A2B"/>
          </a:solidFill>
        </p:spPr>
      </p:sp>
      <p:sp>
        <p:nvSpPr>
          <p:cNvPr id="29" name="Text 27"/>
          <p:cNvSpPr/>
          <p:nvPr/>
        </p:nvSpPr>
        <p:spPr>
          <a:xfrm>
            <a:off x="4892040" y="3593592"/>
            <a:ext cx="3474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B1A2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个人中心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892040" y="3904488"/>
            <a:ext cx="34747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管理个人信息，修改用户名、密码、头像等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57200" y="4709160"/>
            <a:ext cx="8229600" cy="13716"/>
          </a:xfrm>
          <a:prstGeom prst="rect">
            <a:avLst/>
          </a:prstGeom>
          <a:solidFill>
            <a:srgbClr val="C8963E"/>
          </a:solidFill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B1A2B"/>
          </a:solidFill>
        </p:spPr>
      </p:sp>
      <p:sp>
        <p:nvSpPr>
          <p:cNvPr id="3" name="Shape 1"/>
          <p:cNvSpPr/>
          <p:nvPr/>
        </p:nvSpPr>
        <p:spPr>
          <a:xfrm>
            <a:off x="274320" y="228600"/>
            <a:ext cx="8595360" cy="640080"/>
          </a:xfrm>
          <a:prstGeom prst="rect">
            <a:avLst/>
          </a:prstGeom>
          <a:solidFill>
            <a:srgbClr val="7B1A2B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256032"/>
            <a:ext cx="80467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四、系统实现 — 景点·路线·酒店·资讯模块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868680"/>
            <a:ext cx="1371600" cy="36576"/>
          </a:xfrm>
          <a:prstGeom prst="rect">
            <a:avLst/>
          </a:prstGeom>
          <a:solidFill>
            <a:srgbClr val="C8963E"/>
          </a:solidFill>
        </p:spPr>
      </p:sp>
      <p:sp>
        <p:nvSpPr>
          <p:cNvPr id="6" name="Text 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 / 18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3931920" cy="105156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143000"/>
            <a:ext cx="54864" cy="1051560"/>
          </a:xfrm>
          <a:prstGeom prst="rect">
            <a:avLst/>
          </a:prstGeom>
          <a:solidFill>
            <a:srgbClr val="7B1A2B"/>
          </a:solidFill>
        </p:spPr>
      </p:sp>
      <p:sp>
        <p:nvSpPr>
          <p:cNvPr id="9" name="Text 7"/>
          <p:cNvSpPr/>
          <p:nvPr/>
        </p:nvSpPr>
        <p:spPr>
          <a:xfrm>
            <a:off x="685800" y="1216152"/>
            <a:ext cx="3474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B1A2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景点信息模块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1527048"/>
            <a:ext cx="34747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景点列表展示（名称/价格/简介/图片），按名称搜索，查看详情，在线评分与评论，景区门票预约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143000"/>
            <a:ext cx="3931920" cy="105156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143000"/>
            <a:ext cx="54864" cy="1051560"/>
          </a:xfrm>
          <a:prstGeom prst="rect">
            <a:avLst/>
          </a:prstGeom>
          <a:solidFill>
            <a:srgbClr val="1B4F72"/>
          </a:solidFill>
        </p:spPr>
      </p:sp>
      <p:sp>
        <p:nvSpPr>
          <p:cNvPr id="13" name="Text 11"/>
          <p:cNvSpPr/>
          <p:nvPr/>
        </p:nvSpPr>
        <p:spPr>
          <a:xfrm>
            <a:off x="4892040" y="1216152"/>
            <a:ext cx="3474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F7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旅游路线模块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92040" y="1527048"/>
            <a:ext cx="34747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路线列表（含温度/地理信息），按名称/气温/地理位置搜索，收藏优质路线，AI智能路线生成与流式推送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331720"/>
            <a:ext cx="3931920" cy="105156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331720"/>
            <a:ext cx="54864" cy="1051560"/>
          </a:xfrm>
          <a:prstGeom prst="rect">
            <a:avLst/>
          </a:prstGeom>
          <a:solidFill>
            <a:srgbClr val="7B1A2B"/>
          </a:solidFill>
        </p:spPr>
      </p:sp>
      <p:sp>
        <p:nvSpPr>
          <p:cNvPr id="17" name="Text 15"/>
          <p:cNvSpPr/>
          <p:nvPr/>
        </p:nvSpPr>
        <p:spPr>
          <a:xfrm>
            <a:off x="685800" y="2404872"/>
            <a:ext cx="3474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B1A2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景区酒店模块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" y="2715768"/>
            <a:ext cx="34747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酒店按景区关联展示，按名称查询，查看房型（名称/价格/库存），在线预订，订单状态跟踪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63440" y="2331720"/>
            <a:ext cx="3931920" cy="105156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2331720"/>
            <a:ext cx="54864" cy="1051560"/>
          </a:xfrm>
          <a:prstGeom prst="rect">
            <a:avLst/>
          </a:prstGeom>
          <a:solidFill>
            <a:srgbClr val="1B4F72"/>
          </a:solidFill>
        </p:spPr>
      </p:sp>
      <p:sp>
        <p:nvSpPr>
          <p:cNvPr id="21" name="Text 19"/>
          <p:cNvSpPr/>
          <p:nvPr/>
        </p:nvSpPr>
        <p:spPr>
          <a:xfrm>
            <a:off x="4892040" y="2404872"/>
            <a:ext cx="3474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F7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旅游资讯模块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92040" y="2715768"/>
            <a:ext cx="34747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最新资讯列表，关键词搜索，旅途问答社区，旅游攻略发布与分享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3520440"/>
            <a:ext cx="3931920" cy="105156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520440"/>
            <a:ext cx="54864" cy="1051560"/>
          </a:xfrm>
          <a:prstGeom prst="rect">
            <a:avLst/>
          </a:prstGeom>
          <a:solidFill>
            <a:srgbClr val="C8963E"/>
          </a:solidFill>
        </p:spPr>
      </p:sp>
      <p:sp>
        <p:nvSpPr>
          <p:cNvPr id="25" name="Text 23"/>
          <p:cNvSpPr/>
          <p:nvPr/>
        </p:nvSpPr>
        <p:spPr>
          <a:xfrm>
            <a:off x="685800" y="3593592"/>
            <a:ext cx="3474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963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后台景点管理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5800" y="3904488"/>
            <a:ext cx="34747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管理员对景点/路线/酒店进行增删改查，管理库存、图片、状态等信息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663440" y="3520440"/>
            <a:ext cx="3931920" cy="105156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3440" y="3520440"/>
            <a:ext cx="54864" cy="1051560"/>
          </a:xfrm>
          <a:prstGeom prst="rect">
            <a:avLst/>
          </a:prstGeom>
          <a:solidFill>
            <a:srgbClr val="7B1A2B"/>
          </a:solidFill>
        </p:spPr>
      </p:sp>
      <p:sp>
        <p:nvSpPr>
          <p:cNvPr id="29" name="Text 27"/>
          <p:cNvSpPr/>
          <p:nvPr/>
        </p:nvSpPr>
        <p:spPr>
          <a:xfrm>
            <a:off x="4892040" y="3593592"/>
            <a:ext cx="3474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B1A2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预约订单管理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892040" y="3904488"/>
            <a:ext cx="34747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管理员查看/确认/修改/取消游客的景点预约和酒店订单，审核状态流转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57200" y="4709160"/>
            <a:ext cx="8229600" cy="13716"/>
          </a:xfrm>
          <a:prstGeom prst="rect">
            <a:avLst/>
          </a:prstGeom>
          <a:solidFill>
            <a:srgbClr val="C8963E"/>
          </a:solidFill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B1A2B"/>
          </a:solidFill>
        </p:spPr>
      </p:sp>
      <p:sp>
        <p:nvSpPr>
          <p:cNvPr id="3" name="Shape 1"/>
          <p:cNvSpPr/>
          <p:nvPr/>
        </p:nvSpPr>
        <p:spPr>
          <a:xfrm>
            <a:off x="274320" y="228600"/>
            <a:ext cx="8595360" cy="640080"/>
          </a:xfrm>
          <a:prstGeom prst="rect">
            <a:avLst/>
          </a:prstGeom>
          <a:solidFill>
            <a:srgbClr val="7B1A2B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256032"/>
            <a:ext cx="80467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四、系统测试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868680"/>
            <a:ext cx="1371600" cy="36576"/>
          </a:xfrm>
          <a:prstGeom prst="rect">
            <a:avLst/>
          </a:prstGeom>
          <a:solidFill>
            <a:srgbClr val="C8963E"/>
          </a:solidFill>
        </p:spPr>
      </p:sp>
      <p:sp>
        <p:nvSpPr>
          <p:cNvPr id="6" name="Text 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 / 18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8229600" cy="73152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207008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B1A2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测试总览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1554480"/>
            <a:ext cx="7589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测试环境：Windows 10 + MySQL 8.5 + Chrome/Edge + JMeter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测试范围：功能测试 + 接口测试 + 性能测试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问题修复：共解决12类功能性缺陷 + 3个性能问题，均已定位-修复-回归完成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3840480" cy="256032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103120"/>
            <a:ext cx="3840480" cy="365760"/>
          </a:xfrm>
          <a:prstGeom prst="rect">
            <a:avLst/>
          </a:prstGeom>
          <a:solidFill>
            <a:srgbClr val="1B4F72"/>
          </a:solidFill>
        </p:spPr>
      </p:sp>
      <p:sp>
        <p:nvSpPr>
          <p:cNvPr id="12" name="Text 10"/>
          <p:cNvSpPr/>
          <p:nvPr/>
        </p:nvSpPr>
        <p:spPr>
          <a:xfrm>
            <a:off x="457200" y="2130552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接口测试结果</a:t>
            </a:r>
            <a:endParaRPr lang="en-US" sz="1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/>
        </p:nvGraphicFramePr>
        <p:xfrm>
          <a:off x="640080" y="2606040"/>
          <a:ext cx="3474720" cy="1234440"/>
        </p:xfrm>
        <a:graphic>
          <a:graphicData uri="http://schemas.openxmlformats.org/drawingml/2006/table">
            <a:tbl>
              <a:tblPr/>
              <a:tblGrid>
                <a:gridCol w="914400"/>
                <a:gridCol w="640080"/>
                <a:gridCol w="822960"/>
                <a:gridCol w="1097280"/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接口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次数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成功率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平均耗时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用户登录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4次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100%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26ms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景点查询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3次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100%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179.83ms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酒店查询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3次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100%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156ms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4846320" y="2103120"/>
            <a:ext cx="3840480" cy="256032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846320" y="2103120"/>
            <a:ext cx="3840480" cy="365760"/>
          </a:xfrm>
          <a:prstGeom prst="rect">
            <a:avLst/>
          </a:prstGeom>
          <a:solidFill>
            <a:srgbClr val="7B1A2B"/>
          </a:solidFill>
        </p:spPr>
      </p:sp>
      <p:sp>
        <p:nvSpPr>
          <p:cNvPr id="16" name="Text 13"/>
          <p:cNvSpPr/>
          <p:nvPr/>
        </p:nvSpPr>
        <p:spPr>
          <a:xfrm>
            <a:off x="4846320" y="2130552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功能测试结果（景点模块示例）</a:t>
            </a:r>
            <a:endParaRPr lang="en-US" sz="1300" dirty="0"/>
          </a:p>
        </p:txBody>
      </p:sp>
      <p:graphicFrame>
        <p:nvGraphicFramePr>
          <p:cNvPr id="35" name="Table 1"/>
          <p:cNvGraphicFramePr>
            <a:graphicFrameLocks noGrp="1"/>
          </p:cNvGraphicFramePr>
          <p:nvPr/>
        </p:nvGraphicFramePr>
        <p:xfrm>
          <a:off x="5029200" y="2606040"/>
          <a:ext cx="3474720" cy="1554480"/>
        </p:xfrm>
        <a:graphic>
          <a:graphicData uri="http://schemas.openxmlformats.org/drawingml/2006/table">
            <a:tbl>
              <a:tblPr/>
              <a:tblGrid>
                <a:gridCol w="731520"/>
                <a:gridCol w="1645920"/>
                <a:gridCol w="1097280"/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用例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A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测试内容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A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结果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A2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LG-1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景点搜索（布达拉宫）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通过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LG-2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景点预约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通过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LG-3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景点新增（羊湖）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通过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LG-4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景点编辑/删除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通过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Shape 14"/>
          <p:cNvSpPr/>
          <p:nvPr/>
        </p:nvSpPr>
        <p:spPr>
          <a:xfrm>
            <a:off x="457200" y="4709160"/>
            <a:ext cx="8229600" cy="13716"/>
          </a:xfrm>
          <a:prstGeom prst="rect">
            <a:avLst/>
          </a:prstGeom>
          <a:solidFill>
            <a:srgbClr val="C8963E"/>
          </a:solidFill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8963E"/>
          </a:solidFill>
        </p:spPr>
      </p:sp>
      <p:sp>
        <p:nvSpPr>
          <p:cNvPr id="3" name="Shape 1"/>
          <p:cNvSpPr/>
          <p:nvPr/>
        </p:nvSpPr>
        <p:spPr>
          <a:xfrm>
            <a:off x="1097280" y="1371600"/>
            <a:ext cx="54864" cy="2286000"/>
          </a:xfrm>
          <a:prstGeom prst="rect">
            <a:avLst/>
          </a:prstGeom>
          <a:solidFill>
            <a:srgbClr val="C8963E"/>
          </a:solidFill>
        </p:spPr>
      </p:sp>
      <p:sp>
        <p:nvSpPr>
          <p:cNvPr id="4" name="Text 2"/>
          <p:cNvSpPr/>
          <p:nvPr/>
        </p:nvSpPr>
        <p:spPr>
          <a:xfrm>
            <a:off x="1463040" y="1463040"/>
            <a:ext cx="64008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总结与展望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463040" y="2651760"/>
            <a:ext cx="6400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896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SUMMARY &amp; OUTLOOK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 / 18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7280" y="91440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8963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论文工作总结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1417320"/>
            <a:ext cx="3200400" cy="2286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完成需求调研与技术选型，确定SpringBoot+Vue架构方案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设计并实现用户端9大功能模块+管理员端10大功能模块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实现基于用户的协同过滤推荐算法（7指标AHP权重）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实现ECharts数据BI报表+热力图可视化（三图互补方案）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完成功能+接口+性能三层测试，系统稳定可靠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46320" y="91440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8963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下一步工作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846320" y="1417320"/>
            <a:ext cx="3200400" cy="2286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完善功能：增加旅游线路设计、信息推送等一站式服务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优化算法：引入深度学习，多维度信息融合提高推荐精度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智能服务：加入爬虫+攻略筛选+AI客服，提升用户体验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系统优化：微服务架构升级，支撑大规模并发访问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97280" y="3931920"/>
            <a:ext cx="6949440" cy="548640"/>
          </a:xfrm>
          <a:prstGeom prst="rect">
            <a:avLst/>
          </a:prstGeom>
          <a:solidFill>
            <a:srgbClr val="EAE0E0"/>
          </a:solidFill>
        </p:spPr>
      </p:sp>
      <p:sp>
        <p:nvSpPr>
          <p:cNvPr id="12" name="Text 10"/>
          <p:cNvSpPr/>
          <p:nvPr/>
        </p:nvSpPr>
        <p:spPr>
          <a:xfrm>
            <a:off x="1280160" y="3977640"/>
            <a:ext cx="6583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896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核心创新：协同过滤个性化推荐 + ECharts数据可视化BI报表 + 热力图游客密度分析 + 中藏双语国际化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C8963E"/>
          </a:solidFill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C8963E"/>
          </a:solidFill>
        </p:spPr>
      </p:sp>
      <p:sp>
        <p:nvSpPr>
          <p:cNvPr id="4" name="Text 2"/>
          <p:cNvSpPr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致  谢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3657600" y="1828800"/>
            <a:ext cx="1828800" cy="27432"/>
          </a:xfrm>
          <a:prstGeom prst="rect">
            <a:avLst/>
          </a:prstGeom>
          <a:solidFill>
            <a:srgbClr val="C8963E"/>
          </a:solidFill>
        </p:spPr>
      </p:sp>
      <p:sp>
        <p:nvSpPr>
          <p:cNvPr id="6" name="Text 4"/>
          <p:cNvSpPr/>
          <p:nvPr/>
        </p:nvSpPr>
        <p:spPr>
          <a:xfrm>
            <a:off x="1371600" y="2194560"/>
            <a:ext cx="6400800" cy="228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1800" dirty="0">
                <a:solidFill>
                  <a:srgbClr val="E8D5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感谢指导教师曾杰华老师的悉心指导与帮助</a:t>
            </a:r>
            <a:endParaRPr lang="en-US" sz="1800" dirty="0"/>
          </a:p>
          <a:p>
            <a:pPr marL="0" indent="0" algn="ctr">
              <a:lnSpc>
                <a:spcPct val="160000"/>
              </a:lnSpc>
              <a:buNone/>
            </a:pPr>
            <a:r>
              <a:rPr lang="en-US" sz="1800" dirty="0">
                <a:solidFill>
                  <a:srgbClr val="E8D5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感谢计算机科学与工程学院各位老师的培养</a:t>
            </a:r>
            <a:endParaRPr lang="en-US" sz="1800" dirty="0"/>
          </a:p>
          <a:p>
            <a:pPr marL="0" indent="0" algn="ctr">
              <a:lnSpc>
                <a:spcPct val="160000"/>
              </a:lnSpc>
              <a:buNone/>
            </a:pPr>
            <a:r>
              <a:rPr lang="en-US" sz="1800" dirty="0">
                <a:solidFill>
                  <a:srgbClr val="E8D5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感谢家人一直以来的支持与鼓励</a:t>
            </a:r>
            <a:endParaRPr lang="en-US" sz="1800" dirty="0"/>
          </a:p>
          <a:p>
            <a:pPr marL="0" indent="0" algn="ctr">
              <a:lnSpc>
                <a:spcPct val="160000"/>
              </a:lnSpc>
              <a:buNone/>
            </a:pPr>
            <a:r>
              <a:rPr lang="en-US" sz="1800" dirty="0">
                <a:solidFill>
                  <a:srgbClr val="E8D5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感谢室友和同学们的陪伴与帮助</a:t>
            </a:r>
            <a:endParaRPr lang="en-US" sz="1800" dirty="0"/>
          </a:p>
          <a:p>
            <a:pPr marL="0" indent="0" algn="ctr">
              <a:lnSpc>
                <a:spcPct val="160000"/>
              </a:lnSpc>
              <a:buNone/>
            </a:pPr>
            <a:endParaRPr lang="en-US" sz="1800" dirty="0"/>
          </a:p>
          <a:p>
            <a:pPr marL="0" indent="0" algn="ctr">
              <a:lnSpc>
                <a:spcPct val="160000"/>
              </a:lnSpc>
              <a:buNone/>
            </a:pPr>
            <a:r>
              <a:rPr lang="en-US" sz="1800" dirty="0">
                <a:solidFill>
                  <a:srgbClr val="E8D5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恳请各位老师批评指正！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45720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896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答辩人：冷喆好  |  2026年5月</a:t>
            </a:r>
            <a:endParaRPr lang="en-US" sz="14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66.4,&quot;left&quot;:36,&quot;top&quot;:93.6,&quot;width&quot;:648}"/>
</p:tagLst>
</file>

<file path=ppt/tags/tag2.xml><?xml version="1.0" encoding="utf-8"?>
<p:tagLst xmlns:p="http://schemas.openxmlformats.org/presentationml/2006/main">
  <p:tag name="KSO_WM_DIAGRAM_VIRTUALLY_FRAME" val="{&quot;height&quot;:266.4,&quot;left&quot;:36,&quot;top&quot;:93.6,&quot;width&quot;:648}"/>
</p:tagLst>
</file>

<file path=ppt/tags/tag3.xml><?xml version="1.0" encoding="utf-8"?>
<p:tagLst xmlns:p="http://schemas.openxmlformats.org/presentationml/2006/main">
  <p:tag name="KSO_WM_DIAGRAM_VIRTUALLY_FRAME" val="{&quot;height&quot;:266.4,&quot;left&quot;:36,&quot;top&quot;:93.6,&quot;width&quot;:648}"/>
</p:tagLst>
</file>

<file path=ppt/tags/tag4.xml><?xml version="1.0" encoding="utf-8"?>
<p:tagLst xmlns:p="http://schemas.openxmlformats.org/presentationml/2006/main">
  <p:tag name="KSO_WM_DIAGRAM_VIRTUALLY_FRAME" val="{&quot;height&quot;:266.4,&quot;left&quot;:36,&quot;top&quot;:93.6,&quot;width&quot;:648}"/>
</p:tagLst>
</file>

<file path=ppt/tags/tag5.xml><?xml version="1.0" encoding="utf-8"?>
<p:tagLst xmlns:p="http://schemas.openxmlformats.org/presentationml/2006/main">
  <p:tag name="KSO_WM_DIAGRAM_VIRTUALLY_FRAME" val="{&quot;height&quot;:266.4,&quot;left&quot;:36,&quot;top&quot;:93.6,&quot;width&quot;:648}"/>
</p:tagLst>
</file>

<file path=ppt/tags/tag6.xml><?xml version="1.0" encoding="utf-8"?>
<p:tagLst xmlns:p="http://schemas.openxmlformats.org/presentationml/2006/main">
  <p:tag name="KSO_WM_DIAGRAM_VIRTUALLY_FRAME" val="{&quot;height&quot;:266.4,&quot;left&quot;:36,&quot;top&quot;:93.6,&quot;width&quot;:648}"/>
</p:tagLst>
</file>

<file path=ppt/tags/tag7.xml><?xml version="1.0" encoding="utf-8"?>
<p:tagLst xmlns:p="http://schemas.openxmlformats.org/presentationml/2006/main">
  <p:tag name="KSO_WM_DIAGRAM_VIRTUALLY_FRAME" val="{&quot;height&quot;:266.4,&quot;left&quot;:36,&quot;top&quot;:93.6,&quot;width&quot;:648}"/>
</p:tagLst>
</file>

<file path=ppt/tags/tag8.xml><?xml version="1.0" encoding="utf-8"?>
<p:tagLst xmlns:p="http://schemas.openxmlformats.org/presentationml/2006/main">
  <p:tag name="KSO_WM_DIAGRAM_VIRTUALLY_FRAME" val="{&quot;height&quot;:266.4,&quot;left&quot;:36,&quot;top&quot;:93.6,&quot;width&quot;:648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4727</Words>
  <Application>WPS 演示</Application>
  <PresentationFormat>On-screen Show (16:9)</PresentationFormat>
  <Paragraphs>638</Paragraphs>
  <Slides>19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2" baseType="lpstr">
      <vt:lpstr>Arial</vt:lpstr>
      <vt:lpstr>宋体</vt:lpstr>
      <vt:lpstr>Wingdings</vt:lpstr>
      <vt:lpstr>Calibri</vt:lpstr>
      <vt:lpstr>Calibri</vt:lpstr>
      <vt:lpstr>Calibri</vt:lpstr>
      <vt:lpstr>Georgia</vt:lpstr>
      <vt:lpstr>Georgia</vt:lpstr>
      <vt:lpstr>Georgia</vt:lpstr>
      <vt:lpstr>微软雅黑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基于SpringBoot+Vue的七彩西藏旅游网站的设计与实现 - 毕业论文答辩</dc:title>
  <dc:creator>冷喆好</dc:creator>
  <dc:subject>PptxGenJS Presentation</dc:subject>
  <cp:lastModifiedBy>苏黎</cp:lastModifiedBy>
  <cp:revision>2</cp:revision>
  <dcterms:created xsi:type="dcterms:W3CDTF">2026-05-10T08:00:00Z</dcterms:created>
  <dcterms:modified xsi:type="dcterms:W3CDTF">2026-05-10T10:03:31Z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2CC77245E61B49D4A54262958C561BF2_12</vt:lpwstr>
  </property>
</Properties>
</file>